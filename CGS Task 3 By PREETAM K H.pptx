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grandir" charset="1" panose="00000500000000000000"/>
      <p:regular r:id="rId24"/>
    </p:embeddedFont>
    <p:embeddedFont>
      <p:font typeface="Agrandir Bold" charset="1" panose="00000800000000000000"/>
      <p:regular r:id="rId25"/>
    </p:embeddedFont>
    <p:embeddedFont>
      <p:font typeface="Canva Sans Bold" charset="1" panose="020B0803030501040103"/>
      <p:regular r:id="rId26"/>
    </p:embeddedFont>
    <p:embeddedFont>
      <p:font typeface="Canva Sans" charset="1" panose="020B0503030501040103"/>
      <p:regular r:id="rId27"/>
    </p:embeddedFont>
    <p:embeddedFont>
      <p:font typeface="Agrandir Bold Italics" charset="1" panose="000008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1.png" Type="http://schemas.openxmlformats.org/officeDocument/2006/relationships/image"/><Relationship Id="rId8"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svg" Type="http://schemas.openxmlformats.org/officeDocument/2006/relationships/image"/><Relationship Id="rId11" Target="../media/image20.png" Type="http://schemas.openxmlformats.org/officeDocument/2006/relationships/image"/><Relationship Id="rId12" Target="../media/image6.png" Type="http://schemas.openxmlformats.org/officeDocument/2006/relationships/image"/><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3.jpeg" Type="http://schemas.openxmlformats.org/officeDocument/2006/relationships/image"/><Relationship Id="rId4" Target="../media/image24.png" Type="http://schemas.openxmlformats.org/officeDocument/2006/relationships/image"/><Relationship Id="rId5" Target="../media/image6.pn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 Id="rId6" Target="../media/image28.jpeg" Type="http://schemas.openxmlformats.org/officeDocument/2006/relationships/image"/><Relationship Id="rId7"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35.png" Type="http://schemas.openxmlformats.org/officeDocument/2006/relationships/image"/><Relationship Id="rId8"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6.jpeg" Type="http://schemas.openxmlformats.org/officeDocument/2006/relationships/image"/><Relationship Id="rId6" Target="../media/image37.jpeg" Type="http://schemas.openxmlformats.org/officeDocument/2006/relationships/image"/><Relationship Id="rId7" Target="../media/image38.jpeg" Type="http://schemas.openxmlformats.org/officeDocument/2006/relationships/image"/><Relationship Id="rId8" Target="../media/image39.jpeg" Type="http://schemas.openxmlformats.org/officeDocument/2006/relationships/image"/><Relationship Id="rId9"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0.jpeg" Type="http://schemas.openxmlformats.org/officeDocument/2006/relationships/image"/><Relationship Id="rId6"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0">
            <a:off x="4153864" y="125996"/>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72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85958" y="125996"/>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7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3808548" y="125996"/>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72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2518545" y="4093293"/>
            <a:ext cx="10086580" cy="10086580"/>
          </a:xfrm>
          <a:custGeom>
            <a:avLst/>
            <a:gdLst/>
            <a:ahLst/>
            <a:cxnLst/>
            <a:rect r="r" b="b" t="t" l="l"/>
            <a:pathLst>
              <a:path h="10086580" w="10086580">
                <a:moveTo>
                  <a:pt x="0" y="0"/>
                </a:moveTo>
                <a:lnTo>
                  <a:pt x="10086580" y="0"/>
                </a:lnTo>
                <a:lnTo>
                  <a:pt x="10086580" y="10086580"/>
                </a:lnTo>
                <a:lnTo>
                  <a:pt x="0" y="100865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14378191" y="3352511"/>
            <a:ext cx="3311821" cy="3329985"/>
          </a:xfrm>
          <a:custGeom>
            <a:avLst/>
            <a:gdLst/>
            <a:ahLst/>
            <a:cxnLst/>
            <a:rect r="r" b="b" t="t" l="l"/>
            <a:pathLst>
              <a:path h="3329985" w="3311821">
                <a:moveTo>
                  <a:pt x="3311821" y="0"/>
                </a:moveTo>
                <a:lnTo>
                  <a:pt x="0" y="0"/>
                </a:lnTo>
                <a:lnTo>
                  <a:pt x="0" y="3329985"/>
                </a:lnTo>
                <a:lnTo>
                  <a:pt x="3311821" y="3329985"/>
                </a:lnTo>
                <a:lnTo>
                  <a:pt x="331182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76172" y="1644124"/>
            <a:ext cx="1206301" cy="1466513"/>
          </a:xfrm>
          <a:custGeom>
            <a:avLst/>
            <a:gdLst/>
            <a:ahLst/>
            <a:cxnLst/>
            <a:rect r="r" b="b" t="t" l="l"/>
            <a:pathLst>
              <a:path h="1466513" w="1206301">
                <a:moveTo>
                  <a:pt x="0" y="0"/>
                </a:moveTo>
                <a:lnTo>
                  <a:pt x="1206301" y="0"/>
                </a:lnTo>
                <a:lnTo>
                  <a:pt x="1206301" y="1466514"/>
                </a:lnTo>
                <a:lnTo>
                  <a:pt x="0" y="1466514"/>
                </a:lnTo>
                <a:lnTo>
                  <a:pt x="0" y="0"/>
                </a:lnTo>
                <a:close/>
              </a:path>
            </a:pathLst>
          </a:custGeom>
          <a:blipFill>
            <a:blip r:embed="rId7"/>
            <a:stretch>
              <a:fillRect l="-10785" t="0" r="-10785" b="0"/>
            </a:stretch>
          </a:blipFill>
        </p:spPr>
      </p:sp>
      <p:sp>
        <p:nvSpPr>
          <p:cNvPr name="TextBox 9" id="9"/>
          <p:cNvSpPr txBox="true"/>
          <p:nvPr/>
        </p:nvSpPr>
        <p:spPr>
          <a:xfrm rot="0">
            <a:off x="2518545" y="3369557"/>
            <a:ext cx="8385236" cy="2247323"/>
          </a:xfrm>
          <a:prstGeom prst="rect">
            <a:avLst/>
          </a:prstGeom>
        </p:spPr>
        <p:txBody>
          <a:bodyPr anchor="t" rtlCol="false" tIns="0" lIns="0" bIns="0" rIns="0">
            <a:spAutoFit/>
          </a:bodyPr>
          <a:lstStyle/>
          <a:p>
            <a:pPr algn="l">
              <a:lnSpc>
                <a:spcPts val="15781"/>
              </a:lnSpc>
              <a:spcBef>
                <a:spcPct val="0"/>
              </a:spcBef>
            </a:pPr>
            <a:r>
              <a:rPr lang="en-US" sz="11272">
                <a:solidFill>
                  <a:srgbClr val="FFFFFF"/>
                </a:solidFill>
                <a:latin typeface="Agrandir"/>
                <a:ea typeface="Agrandir"/>
                <a:cs typeface="Agrandir"/>
                <a:sym typeface="Agrandir"/>
              </a:rPr>
              <a:t>COMPUTER</a:t>
            </a:r>
          </a:p>
        </p:txBody>
      </p:sp>
      <p:sp>
        <p:nvSpPr>
          <p:cNvPr name="TextBox 10" id="10"/>
          <p:cNvSpPr txBox="true"/>
          <p:nvPr/>
        </p:nvSpPr>
        <p:spPr>
          <a:xfrm rot="0">
            <a:off x="2518545" y="4610100"/>
            <a:ext cx="15433061" cy="2247323"/>
          </a:xfrm>
          <a:prstGeom prst="rect">
            <a:avLst/>
          </a:prstGeom>
        </p:spPr>
        <p:txBody>
          <a:bodyPr anchor="t" rtlCol="false" tIns="0" lIns="0" bIns="0" rIns="0">
            <a:spAutoFit/>
          </a:bodyPr>
          <a:lstStyle/>
          <a:p>
            <a:pPr algn="l">
              <a:lnSpc>
                <a:spcPts val="15781"/>
              </a:lnSpc>
              <a:spcBef>
                <a:spcPct val="0"/>
              </a:spcBef>
            </a:pPr>
            <a:r>
              <a:rPr lang="en-US" sz="11272" b="true">
                <a:solidFill>
                  <a:srgbClr val="FFFFFF"/>
                </a:solidFill>
                <a:latin typeface="Agrandir Bold"/>
                <a:ea typeface="Agrandir Bold"/>
                <a:cs typeface="Agrandir Bold"/>
                <a:sym typeface="Agrandir Bold"/>
              </a:rPr>
              <a:t>GRAPHICS SOCIETY</a:t>
            </a:r>
          </a:p>
        </p:txBody>
      </p:sp>
      <p:sp>
        <p:nvSpPr>
          <p:cNvPr name="TextBox 11" id="11"/>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01</a:t>
            </a:r>
          </a:p>
        </p:txBody>
      </p:sp>
      <p:sp>
        <p:nvSpPr>
          <p:cNvPr name="TextBox 12" id="12"/>
          <p:cNvSpPr txBox="true"/>
          <p:nvPr/>
        </p:nvSpPr>
        <p:spPr>
          <a:xfrm rot="0">
            <a:off x="2879322" y="6481268"/>
            <a:ext cx="3998590" cy="567037"/>
          </a:xfrm>
          <a:prstGeom prst="rect">
            <a:avLst/>
          </a:prstGeom>
        </p:spPr>
        <p:txBody>
          <a:bodyPr anchor="t" rtlCol="false" tIns="0" lIns="0" bIns="0" rIns="0">
            <a:spAutoFit/>
          </a:bodyPr>
          <a:lstStyle/>
          <a:p>
            <a:pPr algn="ctr">
              <a:lnSpc>
                <a:spcPts val="3905"/>
              </a:lnSpc>
              <a:spcBef>
                <a:spcPct val="0"/>
              </a:spcBef>
            </a:pPr>
            <a:r>
              <a:rPr lang="en-US" sz="2789">
                <a:solidFill>
                  <a:srgbClr val="FFFFFF"/>
                </a:solidFill>
                <a:latin typeface="Agrandir"/>
                <a:ea typeface="Agrandir"/>
                <a:cs typeface="Agrandir"/>
                <a:sym typeface="Agrandir"/>
              </a:rPr>
              <a:t>WebX Selection Tasks</a:t>
            </a:r>
          </a:p>
        </p:txBody>
      </p:sp>
      <p:sp>
        <p:nvSpPr>
          <p:cNvPr name="TextBox 13" id="13"/>
          <p:cNvSpPr txBox="true"/>
          <p:nvPr/>
        </p:nvSpPr>
        <p:spPr>
          <a:xfrm rot="0">
            <a:off x="6877912" y="6517636"/>
            <a:ext cx="2107958" cy="546223"/>
          </a:xfrm>
          <a:prstGeom prst="rect">
            <a:avLst/>
          </a:prstGeom>
        </p:spPr>
        <p:txBody>
          <a:bodyPr anchor="t" rtlCol="false" tIns="0" lIns="0" bIns="0" rIns="0">
            <a:spAutoFit/>
          </a:bodyPr>
          <a:lstStyle/>
          <a:p>
            <a:pPr algn="ctr">
              <a:lnSpc>
                <a:spcPts val="3801"/>
              </a:lnSpc>
              <a:spcBef>
                <a:spcPct val="0"/>
              </a:spcBef>
            </a:pPr>
            <a:r>
              <a:rPr lang="en-US" sz="2715">
                <a:solidFill>
                  <a:srgbClr val="FFFFFF"/>
                </a:solidFill>
                <a:latin typeface="Agrandir"/>
                <a:ea typeface="Agrandir"/>
                <a:cs typeface="Agrandir"/>
                <a:sym typeface="Agrandir"/>
              </a:rPr>
              <a:t>2026 -27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2471591" y="-60122"/>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5523174" y="0"/>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5">
              <a:alphaModFix amt="12000"/>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9749143" y="2037350"/>
            <a:ext cx="7649357" cy="7649357"/>
            <a:chOff x="0" y="0"/>
            <a:chExt cx="14840029" cy="14840029"/>
          </a:xfrm>
        </p:grpSpPr>
        <p:sp>
          <p:nvSpPr>
            <p:cNvPr name="Freeform 6" id="6"/>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FFA800">
                    <a:alpha val="61000"/>
                  </a:srgbClr>
                </a:gs>
                <a:gs pos="100000">
                  <a:srgbClr val="1B0D02">
                    <a:alpha val="61000"/>
                  </a:srgbClr>
                </a:gs>
              </a:gsLst>
              <a:lin ang="0"/>
            </a:gradFill>
          </p:spPr>
        </p:sp>
        <p:sp>
          <p:nvSpPr>
            <p:cNvPr name="Freeform 7" id="7"/>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alpha val="60784"/>
              </a:srgbClr>
            </a:solidFill>
          </p:spPr>
        </p:sp>
        <p:sp>
          <p:nvSpPr>
            <p:cNvPr name="Freeform 8" id="8"/>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alphaModFix amt="61000"/>
              </a:blip>
              <a:stretch>
                <a:fillRect l="223" t="-4544" r="223" b="-4544"/>
              </a:stretch>
            </a:blipFill>
          </p:spPr>
        </p:sp>
      </p:grpSp>
      <p:sp>
        <p:nvSpPr>
          <p:cNvPr name="Freeform 9" id="9"/>
          <p:cNvSpPr/>
          <p:nvPr/>
        </p:nvSpPr>
        <p:spPr>
          <a:xfrm flipH="true" flipV="false" rot="0">
            <a:off x="2540422" y="3294688"/>
            <a:ext cx="669617" cy="673289"/>
          </a:xfrm>
          <a:custGeom>
            <a:avLst/>
            <a:gdLst/>
            <a:ahLst/>
            <a:cxnLst/>
            <a:rect r="r" b="b" t="t" l="l"/>
            <a:pathLst>
              <a:path h="673289" w="669617">
                <a:moveTo>
                  <a:pt x="669617" y="0"/>
                </a:moveTo>
                <a:lnTo>
                  <a:pt x="0" y="0"/>
                </a:lnTo>
                <a:lnTo>
                  <a:pt x="0" y="673290"/>
                </a:lnTo>
                <a:lnTo>
                  <a:pt x="669617" y="673290"/>
                </a:lnTo>
                <a:lnTo>
                  <a:pt x="66961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2540422" y="4636681"/>
            <a:ext cx="669617" cy="673289"/>
          </a:xfrm>
          <a:custGeom>
            <a:avLst/>
            <a:gdLst/>
            <a:ahLst/>
            <a:cxnLst/>
            <a:rect r="r" b="b" t="t" l="l"/>
            <a:pathLst>
              <a:path h="673289" w="669617">
                <a:moveTo>
                  <a:pt x="669617" y="0"/>
                </a:moveTo>
                <a:lnTo>
                  <a:pt x="0" y="0"/>
                </a:lnTo>
                <a:lnTo>
                  <a:pt x="0" y="673289"/>
                </a:lnTo>
                <a:lnTo>
                  <a:pt x="669617" y="673289"/>
                </a:lnTo>
                <a:lnTo>
                  <a:pt x="66961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0">
            <a:off x="2562299" y="6000548"/>
            <a:ext cx="669617" cy="673289"/>
          </a:xfrm>
          <a:custGeom>
            <a:avLst/>
            <a:gdLst/>
            <a:ahLst/>
            <a:cxnLst/>
            <a:rect r="r" b="b" t="t" l="l"/>
            <a:pathLst>
              <a:path h="673289" w="669617">
                <a:moveTo>
                  <a:pt x="669617" y="0"/>
                </a:moveTo>
                <a:lnTo>
                  <a:pt x="0" y="0"/>
                </a:lnTo>
                <a:lnTo>
                  <a:pt x="0" y="673290"/>
                </a:lnTo>
                <a:lnTo>
                  <a:pt x="669617" y="673290"/>
                </a:lnTo>
                <a:lnTo>
                  <a:pt x="66961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8"/>
            <a:stretch>
              <a:fillRect l="-10785" t="0" r="-10785" b="0"/>
            </a:stretch>
          </a:blipFill>
        </p:spPr>
      </p:sp>
      <p:sp>
        <p:nvSpPr>
          <p:cNvPr name="TextBox 13" id="13"/>
          <p:cNvSpPr txBox="true"/>
          <p:nvPr/>
        </p:nvSpPr>
        <p:spPr>
          <a:xfrm rot="0">
            <a:off x="2540422" y="835011"/>
            <a:ext cx="5204863"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Task 3</a:t>
            </a:r>
          </a:p>
        </p:txBody>
      </p:sp>
      <p:sp>
        <p:nvSpPr>
          <p:cNvPr name="TextBox 14" id="14"/>
          <p:cNvSpPr txBox="true"/>
          <p:nvPr/>
        </p:nvSpPr>
        <p:spPr>
          <a:xfrm rot="0">
            <a:off x="5645774" y="863586"/>
            <a:ext cx="8607386" cy="2306853"/>
          </a:xfrm>
          <a:prstGeom prst="rect">
            <a:avLst/>
          </a:prstGeom>
        </p:spPr>
        <p:txBody>
          <a:bodyPr anchor="t" rtlCol="false" tIns="0" lIns="0" bIns="0" rIns="0">
            <a:spAutoFit/>
          </a:bodyPr>
          <a:lstStyle/>
          <a:p>
            <a:pPr algn="l">
              <a:lnSpc>
                <a:spcPts val="8547"/>
              </a:lnSpc>
              <a:spcBef>
                <a:spcPct val="0"/>
              </a:spcBef>
            </a:pPr>
            <a:r>
              <a:rPr lang="en-US" sz="6105" b="true">
                <a:solidFill>
                  <a:srgbClr val="FFA800"/>
                </a:solidFill>
                <a:latin typeface="Agrandir Bold"/>
                <a:ea typeface="Agrandir Bold"/>
                <a:cs typeface="Agrandir Bold"/>
                <a:sym typeface="Agrandir Bold"/>
              </a:rPr>
              <a:t>Aut</a:t>
            </a:r>
            <a:r>
              <a:rPr lang="en-US" b="true" sz="6105">
                <a:solidFill>
                  <a:srgbClr val="FFA800"/>
                </a:solidFill>
                <a:latin typeface="Agrandir Bold"/>
                <a:ea typeface="Agrandir Bold"/>
                <a:cs typeface="Agrandir Bold"/>
                <a:sym typeface="Agrandir Bold"/>
              </a:rPr>
              <a:t>omated Timetable Reminder</a:t>
            </a:r>
          </a:p>
        </p:txBody>
      </p:sp>
      <p:sp>
        <p:nvSpPr>
          <p:cNvPr name="TextBox 15" id="15"/>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02</a:t>
            </a:r>
          </a:p>
        </p:txBody>
      </p:sp>
      <p:sp>
        <p:nvSpPr>
          <p:cNvPr name="TextBox 16" id="16"/>
          <p:cNvSpPr txBox="true"/>
          <p:nvPr/>
        </p:nvSpPr>
        <p:spPr>
          <a:xfrm rot="0">
            <a:off x="3769922" y="5931049"/>
            <a:ext cx="5398196" cy="659888"/>
          </a:xfrm>
          <a:prstGeom prst="rect">
            <a:avLst/>
          </a:prstGeom>
        </p:spPr>
        <p:txBody>
          <a:bodyPr anchor="t" rtlCol="false" tIns="0" lIns="0" bIns="0" rIns="0">
            <a:spAutoFit/>
          </a:bodyPr>
          <a:lstStyle/>
          <a:p>
            <a:pPr algn="l">
              <a:lnSpc>
                <a:spcPts val="4689"/>
              </a:lnSpc>
              <a:spcBef>
                <a:spcPct val="0"/>
              </a:spcBef>
            </a:pPr>
            <a:r>
              <a:rPr lang="en-US" sz="3349">
                <a:solidFill>
                  <a:srgbClr val="FFFFFF"/>
                </a:solidFill>
                <a:latin typeface="Agrandir"/>
                <a:ea typeface="Agrandir"/>
                <a:cs typeface="Agrandir"/>
                <a:sym typeface="Agrandir"/>
              </a:rPr>
              <a:t>ROLL NO. : 26IM10059</a:t>
            </a:r>
          </a:p>
        </p:txBody>
      </p:sp>
      <p:sp>
        <p:nvSpPr>
          <p:cNvPr name="TextBox 17" id="17"/>
          <p:cNvSpPr txBox="true"/>
          <p:nvPr/>
        </p:nvSpPr>
        <p:spPr>
          <a:xfrm rot="0">
            <a:off x="3748046" y="3221988"/>
            <a:ext cx="6724665" cy="1204915"/>
          </a:xfrm>
          <a:prstGeom prst="rect">
            <a:avLst/>
          </a:prstGeom>
        </p:spPr>
        <p:txBody>
          <a:bodyPr anchor="t" rtlCol="false" tIns="0" lIns="0" bIns="0" rIns="0">
            <a:spAutoFit/>
          </a:bodyPr>
          <a:lstStyle/>
          <a:p>
            <a:pPr algn="l">
              <a:lnSpc>
                <a:spcPts val="4466"/>
              </a:lnSpc>
            </a:pPr>
            <a:r>
              <a:rPr lang="en-US" sz="3190">
                <a:solidFill>
                  <a:srgbClr val="FFA800"/>
                </a:solidFill>
                <a:latin typeface="Agrandir"/>
                <a:ea typeface="Agrandir"/>
                <a:cs typeface="Agrandir"/>
                <a:sym typeface="Agrandir"/>
              </a:rPr>
              <a:t>CREATED BY </a:t>
            </a:r>
          </a:p>
          <a:p>
            <a:pPr algn="l">
              <a:lnSpc>
                <a:spcPts val="4466"/>
              </a:lnSpc>
              <a:spcBef>
                <a:spcPct val="0"/>
              </a:spcBef>
            </a:pPr>
            <a:r>
              <a:rPr lang="en-US" sz="3190">
                <a:solidFill>
                  <a:srgbClr val="FFA800"/>
                </a:solidFill>
                <a:latin typeface="Agrandir"/>
                <a:ea typeface="Agrandir"/>
                <a:cs typeface="Agrandir"/>
                <a:sym typeface="Agrandir"/>
              </a:rPr>
              <a:t>PREETAM KUMAR HIREMANI</a:t>
            </a:r>
          </a:p>
        </p:txBody>
      </p:sp>
      <p:sp>
        <p:nvSpPr>
          <p:cNvPr name="TextBox 18" id="18"/>
          <p:cNvSpPr txBox="true"/>
          <p:nvPr/>
        </p:nvSpPr>
        <p:spPr>
          <a:xfrm rot="0">
            <a:off x="3748046" y="4563981"/>
            <a:ext cx="8110895" cy="1205143"/>
          </a:xfrm>
          <a:prstGeom prst="rect">
            <a:avLst/>
          </a:prstGeom>
        </p:spPr>
        <p:txBody>
          <a:bodyPr anchor="t" rtlCol="false" tIns="0" lIns="0" bIns="0" rIns="0">
            <a:spAutoFit/>
          </a:bodyPr>
          <a:lstStyle/>
          <a:p>
            <a:pPr algn="l">
              <a:lnSpc>
                <a:spcPts val="4466"/>
              </a:lnSpc>
            </a:pPr>
            <a:r>
              <a:rPr lang="en-US" sz="3190">
                <a:solidFill>
                  <a:srgbClr val="FFFFFF"/>
                </a:solidFill>
                <a:latin typeface="Agrandir"/>
                <a:ea typeface="Agrandir"/>
                <a:cs typeface="Agrandir"/>
                <a:sym typeface="Agrandir"/>
              </a:rPr>
              <a:t>DEPARTMENT : </a:t>
            </a:r>
          </a:p>
          <a:p>
            <a:pPr algn="l">
              <a:lnSpc>
                <a:spcPts val="4466"/>
              </a:lnSpc>
              <a:spcBef>
                <a:spcPct val="0"/>
              </a:spcBef>
            </a:pPr>
            <a:r>
              <a:rPr lang="en-US" sz="3190">
                <a:solidFill>
                  <a:srgbClr val="FFFFFF"/>
                </a:solidFill>
                <a:latin typeface="Agrandir"/>
                <a:ea typeface="Agrandir"/>
                <a:cs typeface="Agrandir"/>
                <a:sym typeface="Agrandir"/>
              </a:rPr>
              <a:t>INDUSTRIAL AND SYSTEMS ENGINEERING </a:t>
            </a:r>
          </a:p>
        </p:txBody>
      </p:sp>
      <p:sp>
        <p:nvSpPr>
          <p:cNvPr name="Freeform 19" id="19"/>
          <p:cNvSpPr/>
          <p:nvPr/>
        </p:nvSpPr>
        <p:spPr>
          <a:xfrm flipH="true" flipV="false" rot="0">
            <a:off x="2562299" y="7245338"/>
            <a:ext cx="669617" cy="673289"/>
          </a:xfrm>
          <a:custGeom>
            <a:avLst/>
            <a:gdLst/>
            <a:ahLst/>
            <a:cxnLst/>
            <a:rect r="r" b="b" t="t" l="l"/>
            <a:pathLst>
              <a:path h="673289" w="669617">
                <a:moveTo>
                  <a:pt x="669617" y="0"/>
                </a:moveTo>
                <a:lnTo>
                  <a:pt x="0" y="0"/>
                </a:lnTo>
                <a:lnTo>
                  <a:pt x="0" y="673289"/>
                </a:lnTo>
                <a:lnTo>
                  <a:pt x="669617" y="673289"/>
                </a:lnTo>
                <a:lnTo>
                  <a:pt x="66961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3769922" y="7175838"/>
            <a:ext cx="5398196" cy="659888"/>
          </a:xfrm>
          <a:prstGeom prst="rect">
            <a:avLst/>
          </a:prstGeom>
        </p:spPr>
        <p:txBody>
          <a:bodyPr anchor="t" rtlCol="false" tIns="0" lIns="0" bIns="0" rIns="0">
            <a:spAutoFit/>
          </a:bodyPr>
          <a:lstStyle/>
          <a:p>
            <a:pPr algn="l">
              <a:lnSpc>
                <a:spcPts val="4689"/>
              </a:lnSpc>
              <a:spcBef>
                <a:spcPct val="0"/>
              </a:spcBef>
            </a:pPr>
            <a:r>
              <a:rPr lang="en-US" sz="3349">
                <a:solidFill>
                  <a:srgbClr val="FFFFFF"/>
                </a:solidFill>
                <a:latin typeface="Agrandir"/>
                <a:ea typeface="Agrandir"/>
                <a:cs typeface="Agrandir"/>
                <a:sym typeface="Agrandir"/>
              </a:rPr>
              <a:t>HALL : LBS</a:t>
            </a:r>
          </a:p>
        </p:txBody>
      </p:sp>
      <p:sp>
        <p:nvSpPr>
          <p:cNvPr name="Freeform 21" id="21"/>
          <p:cNvSpPr/>
          <p:nvPr/>
        </p:nvSpPr>
        <p:spPr>
          <a:xfrm flipH="true" flipV="false" rot="0">
            <a:off x="2518545" y="8490127"/>
            <a:ext cx="669617" cy="673289"/>
          </a:xfrm>
          <a:custGeom>
            <a:avLst/>
            <a:gdLst/>
            <a:ahLst/>
            <a:cxnLst/>
            <a:rect r="r" b="b" t="t" l="l"/>
            <a:pathLst>
              <a:path h="673289" w="669617">
                <a:moveTo>
                  <a:pt x="669617" y="0"/>
                </a:moveTo>
                <a:lnTo>
                  <a:pt x="0" y="0"/>
                </a:lnTo>
                <a:lnTo>
                  <a:pt x="0" y="673289"/>
                </a:lnTo>
                <a:lnTo>
                  <a:pt x="669617" y="673289"/>
                </a:lnTo>
                <a:lnTo>
                  <a:pt x="66961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2" id="22"/>
          <p:cNvSpPr txBox="true"/>
          <p:nvPr/>
        </p:nvSpPr>
        <p:spPr>
          <a:xfrm rot="0">
            <a:off x="3726169" y="8420627"/>
            <a:ext cx="10416002" cy="659888"/>
          </a:xfrm>
          <a:prstGeom prst="rect">
            <a:avLst/>
          </a:prstGeom>
        </p:spPr>
        <p:txBody>
          <a:bodyPr anchor="t" rtlCol="false" tIns="0" lIns="0" bIns="0" rIns="0">
            <a:spAutoFit/>
          </a:bodyPr>
          <a:lstStyle/>
          <a:p>
            <a:pPr algn="l">
              <a:lnSpc>
                <a:spcPts val="4689"/>
              </a:lnSpc>
              <a:spcBef>
                <a:spcPct val="0"/>
              </a:spcBef>
            </a:pPr>
            <a:r>
              <a:rPr lang="en-US" sz="3349">
                <a:solidFill>
                  <a:srgbClr val="FFFFFF"/>
                </a:solidFill>
                <a:latin typeface="Agrandir"/>
                <a:ea typeface="Agrandir"/>
                <a:cs typeface="Agrandir"/>
                <a:sym typeface="Agrandir"/>
              </a:rPr>
              <a:t>CONTACT DETAILS : preetamkhiremani@gmail.com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2471591" y="-60122"/>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5523174" y="0"/>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5">
              <a:alphaModFix amt="12000"/>
              <a:extLst>
                <a:ext uri="{96DAC541-7B7A-43D3-8B79-37D633B846F1}">
                  <asvg:svgBlip xmlns:asvg="http://schemas.microsoft.com/office/drawing/2016/SVG/main" r:embed="rId6"/>
                </a:ext>
              </a:extLst>
            </a:blip>
            <a:stretch>
              <a:fillRect l="0" t="0" r="0" b="0"/>
            </a:stretch>
          </a:blipFill>
        </p:spPr>
      </p:sp>
      <p:grpSp>
        <p:nvGrpSpPr>
          <p:cNvPr name="Group 5" id="5"/>
          <p:cNvGrpSpPr>
            <a:grpSpLocks noChangeAspect="true"/>
          </p:cNvGrpSpPr>
          <p:nvPr/>
        </p:nvGrpSpPr>
        <p:grpSpPr>
          <a:xfrm rot="0">
            <a:off x="9874777" y="1630768"/>
            <a:ext cx="7649357" cy="7649357"/>
            <a:chOff x="0" y="0"/>
            <a:chExt cx="14840029" cy="14840029"/>
          </a:xfrm>
        </p:grpSpPr>
        <p:sp>
          <p:nvSpPr>
            <p:cNvPr name="Freeform 6" id="6"/>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FFA800">
                    <a:alpha val="34000"/>
                  </a:srgbClr>
                </a:gs>
                <a:gs pos="100000">
                  <a:srgbClr val="1B0D02">
                    <a:alpha val="34000"/>
                  </a:srgbClr>
                </a:gs>
              </a:gsLst>
              <a:lin ang="0"/>
            </a:gradFill>
          </p:spPr>
        </p:sp>
        <p:sp>
          <p:nvSpPr>
            <p:cNvPr name="Freeform 7" id="7"/>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FFFFFF">
                <a:alpha val="33725"/>
              </a:srgbClr>
            </a:solidFill>
          </p:spPr>
        </p:sp>
        <p:sp>
          <p:nvSpPr>
            <p:cNvPr name="Freeform 8" id="8"/>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7">
                <a:alphaModFix amt="34000"/>
              </a:blip>
              <a:stretch>
                <a:fillRect l="223" t="0" r="223" b="0"/>
              </a:stretch>
            </a:blipFill>
          </p:spPr>
        </p:sp>
      </p:grpSp>
      <p:sp>
        <p:nvSpPr>
          <p:cNvPr name="Freeform 9" id="9"/>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8"/>
            <a:stretch>
              <a:fillRect l="-10785" t="0" r="-10785" b="0"/>
            </a:stretch>
          </a:blipFill>
        </p:spPr>
      </p:sp>
      <p:sp>
        <p:nvSpPr>
          <p:cNvPr name="TextBox 10" id="10"/>
          <p:cNvSpPr txBox="true"/>
          <p:nvPr/>
        </p:nvSpPr>
        <p:spPr>
          <a:xfrm rot="0">
            <a:off x="1804773" y="3513441"/>
            <a:ext cx="6593825"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Gmail account</a:t>
            </a:r>
          </a:p>
        </p:txBody>
      </p:sp>
      <p:sp>
        <p:nvSpPr>
          <p:cNvPr name="TextBox 11" id="11"/>
          <p:cNvSpPr txBox="true"/>
          <p:nvPr/>
        </p:nvSpPr>
        <p:spPr>
          <a:xfrm rot="0">
            <a:off x="2488924" y="4342303"/>
            <a:ext cx="6655076"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Details</a:t>
            </a:r>
          </a:p>
        </p:txBody>
      </p:sp>
      <p:sp>
        <p:nvSpPr>
          <p:cNvPr name="TextBox 12" id="12"/>
          <p:cNvSpPr txBox="true"/>
          <p:nvPr/>
        </p:nvSpPr>
        <p:spPr>
          <a:xfrm rot="0">
            <a:off x="8912318" y="2102579"/>
            <a:ext cx="3966087" cy="907605"/>
          </a:xfrm>
          <a:prstGeom prst="rect">
            <a:avLst/>
          </a:prstGeom>
        </p:spPr>
        <p:txBody>
          <a:bodyPr anchor="t" rtlCol="false" tIns="0" lIns="0" bIns="0" rIns="0">
            <a:spAutoFit/>
          </a:bodyPr>
          <a:lstStyle/>
          <a:p>
            <a:pPr algn="ctr">
              <a:lnSpc>
                <a:spcPts val="7487"/>
              </a:lnSpc>
            </a:pPr>
            <a:r>
              <a:rPr lang="en-US" sz="5348" b="true">
                <a:solidFill>
                  <a:srgbClr val="FFFFFF"/>
                </a:solidFill>
                <a:latin typeface="Canva Sans Bold"/>
                <a:ea typeface="Canva Sans Bold"/>
                <a:cs typeface="Canva Sans Bold"/>
                <a:sym typeface="Canva Sans Bold"/>
              </a:rPr>
              <a:t>gmail id :</a:t>
            </a:r>
          </a:p>
        </p:txBody>
      </p:sp>
      <p:sp>
        <p:nvSpPr>
          <p:cNvPr name="TextBox 13" id="13"/>
          <p:cNvSpPr txBox="true"/>
          <p:nvPr/>
        </p:nvSpPr>
        <p:spPr>
          <a:xfrm rot="0">
            <a:off x="8233946" y="3505485"/>
            <a:ext cx="5322831" cy="596937"/>
          </a:xfrm>
          <a:prstGeom prst="rect">
            <a:avLst/>
          </a:prstGeom>
        </p:spPr>
        <p:txBody>
          <a:bodyPr anchor="t" rtlCol="false" tIns="0" lIns="0" bIns="0" rIns="0">
            <a:spAutoFit/>
          </a:bodyPr>
          <a:lstStyle/>
          <a:p>
            <a:pPr algn="ctr">
              <a:lnSpc>
                <a:spcPts val="4900"/>
              </a:lnSpc>
            </a:pPr>
            <a:r>
              <a:rPr lang="en-US" sz="3500">
                <a:solidFill>
                  <a:srgbClr val="FFFFFF"/>
                </a:solidFill>
                <a:latin typeface="Canva Sans"/>
                <a:ea typeface="Canva Sans"/>
                <a:cs typeface="Canva Sans"/>
                <a:sym typeface="Canva Sans"/>
              </a:rPr>
              <a:t>testcgs123@gmail.com</a:t>
            </a:r>
          </a:p>
        </p:txBody>
      </p:sp>
      <p:sp>
        <p:nvSpPr>
          <p:cNvPr name="TextBox 14" id="14"/>
          <p:cNvSpPr txBox="true"/>
          <p:nvPr/>
        </p:nvSpPr>
        <p:spPr>
          <a:xfrm rot="0">
            <a:off x="8403908" y="4400568"/>
            <a:ext cx="4982908" cy="887044"/>
          </a:xfrm>
          <a:prstGeom prst="rect">
            <a:avLst/>
          </a:prstGeom>
        </p:spPr>
        <p:txBody>
          <a:bodyPr anchor="t" rtlCol="false" tIns="0" lIns="0" bIns="0" rIns="0">
            <a:spAutoFit/>
          </a:bodyPr>
          <a:lstStyle/>
          <a:p>
            <a:pPr algn="ctr">
              <a:lnSpc>
                <a:spcPts val="7280"/>
              </a:lnSpc>
            </a:pPr>
            <a:r>
              <a:rPr lang="en-US" sz="5200" b="true">
                <a:solidFill>
                  <a:srgbClr val="FFFFFF"/>
                </a:solidFill>
                <a:latin typeface="Canva Sans Bold"/>
                <a:ea typeface="Canva Sans Bold"/>
                <a:cs typeface="Canva Sans Bold"/>
                <a:sym typeface="Canva Sans Bold"/>
              </a:rPr>
              <a:t>Main password</a:t>
            </a:r>
            <a:r>
              <a:rPr lang="en-US" sz="5200" b="true">
                <a:solidFill>
                  <a:srgbClr val="FFFFFF"/>
                </a:solidFill>
                <a:latin typeface="Canva Sans Bold"/>
                <a:ea typeface="Canva Sans Bold"/>
                <a:cs typeface="Canva Sans Bold"/>
                <a:sym typeface="Canva Sans Bold"/>
              </a:rPr>
              <a:t> </a:t>
            </a:r>
          </a:p>
        </p:txBody>
      </p:sp>
      <p:sp>
        <p:nvSpPr>
          <p:cNvPr name="TextBox 15" id="15"/>
          <p:cNvSpPr txBox="true"/>
          <p:nvPr/>
        </p:nvSpPr>
        <p:spPr>
          <a:xfrm rot="0">
            <a:off x="10408444" y="5388771"/>
            <a:ext cx="973836" cy="596937"/>
          </a:xfrm>
          <a:prstGeom prst="rect">
            <a:avLst/>
          </a:prstGeom>
        </p:spPr>
        <p:txBody>
          <a:bodyPr anchor="t" rtlCol="false" tIns="0" lIns="0" bIns="0" rIns="0">
            <a:spAutoFit/>
          </a:bodyPr>
          <a:lstStyle/>
          <a:p>
            <a:pPr algn="ctr">
              <a:lnSpc>
                <a:spcPts val="4900"/>
              </a:lnSpc>
            </a:pPr>
            <a:r>
              <a:rPr lang="en-US" sz="3500">
                <a:solidFill>
                  <a:srgbClr val="FFFFFF"/>
                </a:solidFill>
                <a:latin typeface="Canva Sans"/>
                <a:ea typeface="Canva Sans"/>
                <a:cs typeface="Canva Sans"/>
                <a:sym typeface="Canva Sans"/>
              </a:rPr>
              <a:t>AND</a:t>
            </a:r>
          </a:p>
        </p:txBody>
      </p:sp>
      <p:sp>
        <p:nvSpPr>
          <p:cNvPr name="TextBox 16" id="16"/>
          <p:cNvSpPr txBox="true"/>
          <p:nvPr/>
        </p:nvSpPr>
        <p:spPr>
          <a:xfrm rot="0">
            <a:off x="8319809" y="6227449"/>
            <a:ext cx="5151104" cy="887057"/>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App-Password</a:t>
            </a:r>
          </a:p>
        </p:txBody>
      </p:sp>
      <p:sp>
        <p:nvSpPr>
          <p:cNvPr name="TextBox 17" id="17"/>
          <p:cNvSpPr txBox="true"/>
          <p:nvPr/>
        </p:nvSpPr>
        <p:spPr>
          <a:xfrm rot="0">
            <a:off x="5326266" y="7228806"/>
            <a:ext cx="11138191" cy="596938"/>
          </a:xfrm>
          <a:prstGeom prst="rect">
            <a:avLst/>
          </a:prstGeom>
        </p:spPr>
        <p:txBody>
          <a:bodyPr anchor="t" rtlCol="false" tIns="0" lIns="0" bIns="0" rIns="0">
            <a:spAutoFit/>
          </a:bodyPr>
          <a:lstStyle/>
          <a:p>
            <a:pPr algn="ctr">
              <a:lnSpc>
                <a:spcPts val="4900"/>
              </a:lnSpc>
            </a:pPr>
            <a:r>
              <a:rPr lang="en-US" sz="3500">
                <a:solidFill>
                  <a:srgbClr val="FFFFFF"/>
                </a:solidFill>
                <a:latin typeface="Canva Sans"/>
                <a:ea typeface="Canva Sans"/>
                <a:cs typeface="Canva Sans"/>
                <a:sym typeface="Canva Sans"/>
              </a:rPr>
              <a:t>IF FOR TESTING IT REQUIRED THEN PLEASE ASK ME </a:t>
            </a:r>
          </a:p>
        </p:txBody>
      </p:sp>
      <p:sp>
        <p:nvSpPr>
          <p:cNvPr name="TextBox 18" id="18"/>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2947430" y="-351351"/>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3570029" y="5143500"/>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12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518545" y="3579107"/>
            <a:ext cx="4656761"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Content</a:t>
            </a:r>
          </a:p>
        </p:txBody>
      </p:sp>
      <p:sp>
        <p:nvSpPr>
          <p:cNvPr name="TextBox 6" id="6"/>
          <p:cNvSpPr txBox="true"/>
          <p:nvPr/>
        </p:nvSpPr>
        <p:spPr>
          <a:xfrm rot="0">
            <a:off x="2518545" y="4342303"/>
            <a:ext cx="4277982"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of Task</a:t>
            </a:r>
          </a:p>
        </p:txBody>
      </p:sp>
      <p:sp>
        <p:nvSpPr>
          <p:cNvPr name="Freeform 7" id="7"/>
          <p:cNvSpPr/>
          <p:nvPr/>
        </p:nvSpPr>
        <p:spPr>
          <a:xfrm flipH="true" flipV="false" rot="0">
            <a:off x="7603848" y="3093661"/>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8360885" y="2988886"/>
            <a:ext cx="2656987"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Walk-Through</a:t>
            </a:r>
          </a:p>
        </p:txBody>
      </p:sp>
      <p:sp>
        <p:nvSpPr>
          <p:cNvPr name="Freeform 9" id="9"/>
          <p:cNvSpPr/>
          <p:nvPr/>
        </p:nvSpPr>
        <p:spPr>
          <a:xfrm flipH="true" flipV="false" rot="0">
            <a:off x="7603848" y="4216673"/>
            <a:ext cx="419770" cy="422072"/>
          </a:xfrm>
          <a:custGeom>
            <a:avLst/>
            <a:gdLst/>
            <a:ahLst/>
            <a:cxnLst/>
            <a:rect r="r" b="b" t="t" l="l"/>
            <a:pathLst>
              <a:path h="422072" w="419770">
                <a:moveTo>
                  <a:pt x="419771" y="0"/>
                </a:moveTo>
                <a:lnTo>
                  <a:pt x="0" y="0"/>
                </a:lnTo>
                <a:lnTo>
                  <a:pt x="0" y="422073"/>
                </a:lnTo>
                <a:lnTo>
                  <a:pt x="419771" y="422073"/>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8360885" y="4111898"/>
            <a:ext cx="2656987" cy="439458"/>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Agrandir"/>
                <a:ea typeface="Agrandir"/>
                <a:cs typeface="Agrandir"/>
                <a:sym typeface="Agrandir"/>
              </a:rPr>
              <a:t>Road 1</a:t>
            </a:r>
          </a:p>
        </p:txBody>
      </p:sp>
      <p:sp>
        <p:nvSpPr>
          <p:cNvPr name="Freeform 11" id="11"/>
          <p:cNvSpPr/>
          <p:nvPr/>
        </p:nvSpPr>
        <p:spPr>
          <a:xfrm flipH="true" flipV="false" rot="0">
            <a:off x="7603848" y="5342438"/>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8360885" y="5237663"/>
            <a:ext cx="2085980" cy="439458"/>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Agrandir"/>
                <a:ea typeface="Agrandir"/>
                <a:cs typeface="Agrandir"/>
                <a:sym typeface="Agrandir"/>
              </a:rPr>
              <a:t>Road 2</a:t>
            </a:r>
          </a:p>
        </p:txBody>
      </p:sp>
      <p:sp>
        <p:nvSpPr>
          <p:cNvPr name="Freeform 13" id="13"/>
          <p:cNvSpPr/>
          <p:nvPr/>
        </p:nvSpPr>
        <p:spPr>
          <a:xfrm flipH="true" flipV="false" rot="0">
            <a:off x="7603848" y="6468202"/>
            <a:ext cx="419770" cy="422072"/>
          </a:xfrm>
          <a:custGeom>
            <a:avLst/>
            <a:gdLst/>
            <a:ahLst/>
            <a:cxnLst/>
            <a:rect r="r" b="b" t="t" l="l"/>
            <a:pathLst>
              <a:path h="422072" w="419770">
                <a:moveTo>
                  <a:pt x="419771" y="0"/>
                </a:moveTo>
                <a:lnTo>
                  <a:pt x="0" y="0"/>
                </a:lnTo>
                <a:lnTo>
                  <a:pt x="0" y="422073"/>
                </a:lnTo>
                <a:lnTo>
                  <a:pt x="419771" y="422073"/>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8360885" y="6363427"/>
            <a:ext cx="2656987" cy="439458"/>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Agrandir"/>
                <a:ea typeface="Agrandir"/>
                <a:cs typeface="Agrandir"/>
                <a:sym typeface="Agrandir"/>
              </a:rPr>
              <a:t>Road 3</a:t>
            </a:r>
          </a:p>
        </p:txBody>
      </p:sp>
      <p:sp>
        <p:nvSpPr>
          <p:cNvPr name="TextBox 15" id="15"/>
          <p:cNvSpPr txBox="true"/>
          <p:nvPr/>
        </p:nvSpPr>
        <p:spPr>
          <a:xfrm rot="0">
            <a:off x="11017872" y="2612582"/>
            <a:ext cx="6788981" cy="6043237"/>
          </a:xfrm>
          <a:prstGeom prst="rect">
            <a:avLst/>
          </a:prstGeom>
        </p:spPr>
        <p:txBody>
          <a:bodyPr anchor="t" rtlCol="false" tIns="0" lIns="0" bIns="0" rIns="0">
            <a:spAutoFit/>
          </a:bodyPr>
          <a:lstStyle/>
          <a:p>
            <a:pPr algn="just">
              <a:lnSpc>
                <a:spcPts val="3064"/>
              </a:lnSpc>
            </a:pPr>
            <a:r>
              <a:rPr lang="en-US" sz="2188">
                <a:solidFill>
                  <a:srgbClr val="FFA800"/>
                </a:solidFill>
                <a:latin typeface="Agrandir"/>
                <a:ea typeface="Agrandir"/>
                <a:cs typeface="Agrandir"/>
                <a:sym typeface="Agrandir"/>
              </a:rPr>
              <a:t>Walk-Through</a:t>
            </a:r>
            <a:r>
              <a:rPr lang="en-US" sz="2188">
                <a:solidFill>
                  <a:srgbClr val="FFFFFF"/>
                </a:solidFill>
                <a:latin typeface="Agrandir"/>
                <a:ea typeface="Agrandir"/>
                <a:cs typeface="Agrandir"/>
                <a:sym typeface="Agrandir"/>
              </a:rPr>
              <a:t> tells what is there in those paths and gives overall what I have made in this task.</a:t>
            </a:r>
          </a:p>
          <a:p>
            <a:pPr algn="just">
              <a:lnSpc>
                <a:spcPts val="3064"/>
              </a:lnSpc>
            </a:pPr>
            <a:r>
              <a:rPr lang="en-US" sz="2188">
                <a:solidFill>
                  <a:srgbClr val="FFFFFF"/>
                </a:solidFill>
                <a:latin typeface="Agrandir"/>
                <a:ea typeface="Agrandir"/>
                <a:cs typeface="Agrandir"/>
                <a:sym typeface="Agrandir"/>
              </a:rPr>
              <a:t>This part explains the follow </a:t>
            </a:r>
          </a:p>
          <a:p>
            <a:pPr algn="just">
              <a:lnSpc>
                <a:spcPts val="3064"/>
              </a:lnSpc>
            </a:pPr>
          </a:p>
          <a:p>
            <a:pPr algn="just">
              <a:lnSpc>
                <a:spcPts val="3064"/>
              </a:lnSpc>
            </a:pPr>
          </a:p>
          <a:p>
            <a:pPr algn="just">
              <a:lnSpc>
                <a:spcPts val="3064"/>
              </a:lnSpc>
            </a:pPr>
          </a:p>
          <a:p>
            <a:pPr algn="just">
              <a:lnSpc>
                <a:spcPts val="3064"/>
              </a:lnSpc>
            </a:pPr>
          </a:p>
          <a:p>
            <a:pPr algn="just">
              <a:lnSpc>
                <a:spcPts val="3064"/>
              </a:lnSpc>
            </a:pPr>
          </a:p>
          <a:p>
            <a:pPr algn="just">
              <a:lnSpc>
                <a:spcPts val="3064"/>
              </a:lnSpc>
            </a:pPr>
          </a:p>
          <a:p>
            <a:pPr algn="just">
              <a:lnSpc>
                <a:spcPts val="3064"/>
              </a:lnSpc>
            </a:pPr>
          </a:p>
          <a:p>
            <a:pPr algn="just">
              <a:lnSpc>
                <a:spcPts val="3064"/>
              </a:lnSpc>
            </a:pPr>
          </a:p>
          <a:p>
            <a:pPr algn="just">
              <a:lnSpc>
                <a:spcPts val="3064"/>
              </a:lnSpc>
            </a:pPr>
          </a:p>
          <a:p>
            <a:pPr algn="just">
              <a:lnSpc>
                <a:spcPts val="3764"/>
              </a:lnSpc>
              <a:spcBef>
                <a:spcPct val="0"/>
              </a:spcBef>
            </a:pPr>
            <a:r>
              <a:rPr lang="en-US" sz="2688">
                <a:solidFill>
                  <a:srgbClr val="FFDE59"/>
                </a:solidFill>
                <a:latin typeface="Agrandir"/>
                <a:ea typeface="Agrandir"/>
                <a:cs typeface="Agrandir"/>
                <a:sym typeface="Agrandir"/>
              </a:rPr>
              <a:t>The purpose of making this presentation is to sow what I have done to make this task complete please go through.</a:t>
            </a:r>
          </a:p>
        </p:txBody>
      </p:sp>
      <p:sp>
        <p:nvSpPr>
          <p:cNvPr name="TextBox 16" id="16"/>
          <p:cNvSpPr txBox="true"/>
          <p:nvPr/>
        </p:nvSpPr>
        <p:spPr>
          <a:xfrm rot="0">
            <a:off x="11664455" y="3933761"/>
            <a:ext cx="6142398" cy="1908629"/>
          </a:xfrm>
          <a:prstGeom prst="rect">
            <a:avLst/>
          </a:prstGeom>
        </p:spPr>
        <p:txBody>
          <a:bodyPr anchor="t" rtlCol="false" tIns="0" lIns="0" bIns="0" rIns="0">
            <a:spAutoFit/>
          </a:bodyPr>
          <a:lstStyle/>
          <a:p>
            <a:pPr algn="just">
              <a:lnSpc>
                <a:spcPts val="2949"/>
              </a:lnSpc>
            </a:pPr>
            <a:r>
              <a:rPr lang="en-US" sz="2107">
                <a:solidFill>
                  <a:srgbClr val="FFFFFF"/>
                </a:solidFill>
                <a:latin typeface="Agrandir"/>
                <a:ea typeface="Agrandir"/>
                <a:cs typeface="Agrandir"/>
                <a:sym typeface="Agrandir"/>
              </a:rPr>
              <a:t>How I begin the process </a:t>
            </a:r>
          </a:p>
          <a:p>
            <a:pPr algn="just">
              <a:lnSpc>
                <a:spcPts val="2949"/>
              </a:lnSpc>
            </a:pPr>
            <a:r>
              <a:rPr lang="en-US" sz="2107">
                <a:solidFill>
                  <a:srgbClr val="FFFFFF"/>
                </a:solidFill>
                <a:latin typeface="Agrandir"/>
                <a:ea typeface="Agrandir"/>
                <a:cs typeface="Agrandir"/>
                <a:sym typeface="Agrandir"/>
              </a:rPr>
              <a:t>What was the reason for making separate road</a:t>
            </a:r>
          </a:p>
          <a:p>
            <a:pPr algn="just">
              <a:lnSpc>
                <a:spcPts val="2949"/>
              </a:lnSpc>
            </a:pPr>
            <a:r>
              <a:rPr lang="en-US" sz="2107">
                <a:solidFill>
                  <a:srgbClr val="FFFFFF"/>
                </a:solidFill>
                <a:latin typeface="Agrandir"/>
                <a:ea typeface="Agrandir"/>
                <a:cs typeface="Agrandir"/>
                <a:sym typeface="Agrandir"/>
              </a:rPr>
              <a:t>Problems I encountered and solutions found in the main way or in that specific road.....</a:t>
            </a:r>
          </a:p>
          <a:p>
            <a:pPr algn="just">
              <a:lnSpc>
                <a:spcPts val="2949"/>
              </a:lnSpc>
              <a:spcBef>
                <a:spcPct val="0"/>
              </a:spcBef>
            </a:pPr>
          </a:p>
        </p:txBody>
      </p:sp>
      <p:sp>
        <p:nvSpPr>
          <p:cNvPr name="Freeform 17" id="17"/>
          <p:cNvSpPr/>
          <p:nvPr/>
        </p:nvSpPr>
        <p:spPr>
          <a:xfrm flipH="true" flipV="false" rot="0">
            <a:off x="11150732" y="4038536"/>
            <a:ext cx="290237" cy="291828"/>
          </a:xfrm>
          <a:custGeom>
            <a:avLst/>
            <a:gdLst/>
            <a:ahLst/>
            <a:cxnLst/>
            <a:rect r="r" b="b" t="t" l="l"/>
            <a:pathLst>
              <a:path h="291828" w="290237">
                <a:moveTo>
                  <a:pt x="290236" y="0"/>
                </a:moveTo>
                <a:lnTo>
                  <a:pt x="0" y="0"/>
                </a:lnTo>
                <a:lnTo>
                  <a:pt x="0" y="291828"/>
                </a:lnTo>
                <a:lnTo>
                  <a:pt x="290236" y="291828"/>
                </a:lnTo>
                <a:lnTo>
                  <a:pt x="29023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false" rot="0">
            <a:off x="11150732" y="4397384"/>
            <a:ext cx="306265" cy="307945"/>
          </a:xfrm>
          <a:custGeom>
            <a:avLst/>
            <a:gdLst/>
            <a:ahLst/>
            <a:cxnLst/>
            <a:rect r="r" b="b" t="t" l="l"/>
            <a:pathLst>
              <a:path h="307945" w="306265">
                <a:moveTo>
                  <a:pt x="306265" y="0"/>
                </a:moveTo>
                <a:lnTo>
                  <a:pt x="0" y="0"/>
                </a:lnTo>
                <a:lnTo>
                  <a:pt x="0" y="307945"/>
                </a:lnTo>
                <a:lnTo>
                  <a:pt x="306265" y="307945"/>
                </a:lnTo>
                <a:lnTo>
                  <a:pt x="30626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true" flipV="false" rot="0">
            <a:off x="11150732" y="4794149"/>
            <a:ext cx="324685" cy="326466"/>
          </a:xfrm>
          <a:custGeom>
            <a:avLst/>
            <a:gdLst/>
            <a:ahLst/>
            <a:cxnLst/>
            <a:rect r="r" b="b" t="t" l="l"/>
            <a:pathLst>
              <a:path h="326466" w="324685">
                <a:moveTo>
                  <a:pt x="324685" y="0"/>
                </a:moveTo>
                <a:lnTo>
                  <a:pt x="0" y="0"/>
                </a:lnTo>
                <a:lnTo>
                  <a:pt x="0" y="326466"/>
                </a:lnTo>
                <a:lnTo>
                  <a:pt x="324685" y="326466"/>
                </a:lnTo>
                <a:lnTo>
                  <a:pt x="32468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0" id="20"/>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04</a:t>
            </a:r>
          </a:p>
        </p:txBody>
      </p:sp>
      <p:sp>
        <p:nvSpPr>
          <p:cNvPr name="Freeform 21" id="21"/>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5"/>
            <a:stretch>
              <a:fillRect l="-10785" t="0" r="-10785" b="0"/>
            </a:stretch>
          </a:blipFill>
        </p:spPr>
      </p:sp>
      <p:sp>
        <p:nvSpPr>
          <p:cNvPr name="TextBox 22" id="22"/>
          <p:cNvSpPr txBox="true"/>
          <p:nvPr/>
        </p:nvSpPr>
        <p:spPr>
          <a:xfrm rot="0">
            <a:off x="9525464" y="4048566"/>
            <a:ext cx="4277982" cy="547072"/>
          </a:xfrm>
          <a:prstGeom prst="rect">
            <a:avLst/>
          </a:prstGeom>
        </p:spPr>
        <p:txBody>
          <a:bodyPr anchor="t" rtlCol="false" tIns="0" lIns="0" bIns="0" rIns="0">
            <a:spAutoFit/>
          </a:bodyPr>
          <a:lstStyle/>
          <a:p>
            <a:pPr algn="l">
              <a:lnSpc>
                <a:spcPts val="3969"/>
              </a:lnSpc>
              <a:spcBef>
                <a:spcPct val="0"/>
              </a:spcBef>
            </a:pPr>
            <a:r>
              <a:rPr lang="en-US" sz="2835" b="true">
                <a:solidFill>
                  <a:srgbClr val="FFA800"/>
                </a:solidFill>
                <a:latin typeface="Agrandir Bold"/>
                <a:ea typeface="Agrandir Bold"/>
                <a:cs typeface="Agrandir Bold"/>
                <a:sym typeface="Agrandir Bold"/>
              </a:rPr>
              <a:t>pg no. 8</a:t>
            </a:r>
          </a:p>
        </p:txBody>
      </p:sp>
      <p:sp>
        <p:nvSpPr>
          <p:cNvPr name="TextBox 23" id="23"/>
          <p:cNvSpPr txBox="true"/>
          <p:nvPr/>
        </p:nvSpPr>
        <p:spPr>
          <a:xfrm rot="0">
            <a:off x="9525464" y="5130048"/>
            <a:ext cx="4277982" cy="547072"/>
          </a:xfrm>
          <a:prstGeom prst="rect">
            <a:avLst/>
          </a:prstGeom>
        </p:spPr>
        <p:txBody>
          <a:bodyPr anchor="t" rtlCol="false" tIns="0" lIns="0" bIns="0" rIns="0">
            <a:spAutoFit/>
          </a:bodyPr>
          <a:lstStyle/>
          <a:p>
            <a:pPr algn="l">
              <a:lnSpc>
                <a:spcPts val="3969"/>
              </a:lnSpc>
              <a:spcBef>
                <a:spcPct val="0"/>
              </a:spcBef>
            </a:pPr>
            <a:r>
              <a:rPr lang="en-US" sz="2835" b="true">
                <a:solidFill>
                  <a:srgbClr val="FFA800"/>
                </a:solidFill>
                <a:latin typeface="Agrandir Bold"/>
                <a:ea typeface="Agrandir Bold"/>
                <a:cs typeface="Agrandir Bold"/>
                <a:sym typeface="Agrandir Bold"/>
              </a:rPr>
              <a:t>pg no. 11</a:t>
            </a:r>
          </a:p>
        </p:txBody>
      </p:sp>
      <p:sp>
        <p:nvSpPr>
          <p:cNvPr name="TextBox 24" id="24"/>
          <p:cNvSpPr txBox="true"/>
          <p:nvPr/>
        </p:nvSpPr>
        <p:spPr>
          <a:xfrm rot="0">
            <a:off x="9525464" y="6255813"/>
            <a:ext cx="4277982" cy="547072"/>
          </a:xfrm>
          <a:prstGeom prst="rect">
            <a:avLst/>
          </a:prstGeom>
        </p:spPr>
        <p:txBody>
          <a:bodyPr anchor="t" rtlCol="false" tIns="0" lIns="0" bIns="0" rIns="0">
            <a:spAutoFit/>
          </a:bodyPr>
          <a:lstStyle/>
          <a:p>
            <a:pPr algn="l">
              <a:lnSpc>
                <a:spcPts val="3969"/>
              </a:lnSpc>
              <a:spcBef>
                <a:spcPct val="0"/>
              </a:spcBef>
            </a:pPr>
            <a:r>
              <a:rPr lang="en-US" sz="2835" b="true">
                <a:solidFill>
                  <a:srgbClr val="FFA800"/>
                </a:solidFill>
                <a:latin typeface="Agrandir Bold"/>
                <a:ea typeface="Agrandir Bold"/>
                <a:cs typeface="Agrandir Bold"/>
                <a:sym typeface="Agrandir Bold"/>
              </a:rPr>
              <a:t>pg no. 13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5523174" y="0"/>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488924" y="1586999"/>
            <a:ext cx="4548473" cy="3242672"/>
            <a:chOff x="0" y="0"/>
            <a:chExt cx="704677" cy="502375"/>
          </a:xfrm>
        </p:grpSpPr>
        <p:sp>
          <p:nvSpPr>
            <p:cNvPr name="Freeform 6" id="6"/>
            <p:cNvSpPr/>
            <p:nvPr/>
          </p:nvSpPr>
          <p:spPr>
            <a:xfrm flipH="false" flipV="false" rot="0">
              <a:off x="0" y="0"/>
              <a:ext cx="704677" cy="502375"/>
            </a:xfrm>
            <a:custGeom>
              <a:avLst/>
              <a:gdLst/>
              <a:ahLst/>
              <a:cxnLst/>
              <a:rect r="r" b="b" t="t" l="l"/>
              <a:pathLst>
                <a:path h="502375" w="704677">
                  <a:moveTo>
                    <a:pt x="0" y="0"/>
                  </a:moveTo>
                  <a:lnTo>
                    <a:pt x="704677" y="0"/>
                  </a:lnTo>
                  <a:lnTo>
                    <a:pt x="704677" y="502375"/>
                  </a:lnTo>
                  <a:lnTo>
                    <a:pt x="0" y="502375"/>
                  </a:lnTo>
                  <a:close/>
                </a:path>
              </a:pathLst>
            </a:custGeom>
            <a:blipFill>
              <a:blip r:embed="rId5"/>
              <a:stretch>
                <a:fillRect l="-11458" t="0" r="-11458" b="0"/>
              </a:stretch>
            </a:blipFill>
            <a:ln w="28575" cap="sq">
              <a:solidFill>
                <a:srgbClr val="FFA800"/>
              </a:solidFill>
              <a:prstDash val="solid"/>
              <a:miter/>
            </a:ln>
          </p:spPr>
        </p:sp>
      </p:grpSp>
      <p:sp>
        <p:nvSpPr>
          <p:cNvPr name="TextBox 7" id="7"/>
          <p:cNvSpPr txBox="true"/>
          <p:nvPr/>
        </p:nvSpPr>
        <p:spPr>
          <a:xfrm rot="0">
            <a:off x="8233866" y="1458585"/>
            <a:ext cx="1935079"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Task</a:t>
            </a:r>
          </a:p>
        </p:txBody>
      </p:sp>
      <p:sp>
        <p:nvSpPr>
          <p:cNvPr name="TextBox 8" id="8"/>
          <p:cNvSpPr txBox="true"/>
          <p:nvPr/>
        </p:nvSpPr>
        <p:spPr>
          <a:xfrm rot="0">
            <a:off x="10168945" y="1458585"/>
            <a:ext cx="6071490"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walk-through</a:t>
            </a:r>
          </a:p>
        </p:txBody>
      </p:sp>
      <p:grpSp>
        <p:nvGrpSpPr>
          <p:cNvPr name="Group 9" id="9"/>
          <p:cNvGrpSpPr/>
          <p:nvPr/>
        </p:nvGrpSpPr>
        <p:grpSpPr>
          <a:xfrm rot="0">
            <a:off x="2488924" y="4939710"/>
            <a:ext cx="4548473" cy="4531168"/>
            <a:chOff x="0" y="0"/>
            <a:chExt cx="745007" cy="742173"/>
          </a:xfrm>
        </p:grpSpPr>
        <p:sp>
          <p:nvSpPr>
            <p:cNvPr name="Freeform 10" id="10"/>
            <p:cNvSpPr/>
            <p:nvPr/>
          </p:nvSpPr>
          <p:spPr>
            <a:xfrm flipH="false" flipV="false" rot="0">
              <a:off x="0" y="0"/>
              <a:ext cx="745007" cy="742173"/>
            </a:xfrm>
            <a:custGeom>
              <a:avLst/>
              <a:gdLst/>
              <a:ahLst/>
              <a:cxnLst/>
              <a:rect r="r" b="b" t="t" l="l"/>
              <a:pathLst>
                <a:path h="742173" w="745007">
                  <a:moveTo>
                    <a:pt x="0" y="0"/>
                  </a:moveTo>
                  <a:lnTo>
                    <a:pt x="745007" y="0"/>
                  </a:lnTo>
                  <a:lnTo>
                    <a:pt x="745007" y="742173"/>
                  </a:lnTo>
                  <a:lnTo>
                    <a:pt x="0" y="742173"/>
                  </a:lnTo>
                  <a:close/>
                </a:path>
              </a:pathLst>
            </a:custGeom>
            <a:blipFill>
              <a:blip r:embed="rId6"/>
              <a:stretch>
                <a:fillRect l="-568" t="0" r="-568" b="0"/>
              </a:stretch>
            </a:blipFill>
            <a:ln w="28575" cap="sq">
              <a:solidFill>
                <a:srgbClr val="FFA800"/>
              </a:solidFill>
              <a:prstDash val="solid"/>
              <a:miter/>
            </a:ln>
          </p:spPr>
        </p:sp>
      </p:grpSp>
      <p:sp>
        <p:nvSpPr>
          <p:cNvPr name="Freeform 11" id="11"/>
          <p:cNvSpPr/>
          <p:nvPr/>
        </p:nvSpPr>
        <p:spPr>
          <a:xfrm flipH="true" flipV="false" rot="0">
            <a:off x="8310066" y="3208335"/>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9067103" y="3191004"/>
            <a:ext cx="5686495"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Created a d</a:t>
            </a:r>
            <a:r>
              <a:rPr lang="en-US" sz="2199">
                <a:solidFill>
                  <a:srgbClr val="FFA800"/>
                </a:solidFill>
                <a:latin typeface="Agrandir"/>
                <a:ea typeface="Agrandir"/>
                <a:cs typeface="Agrandir"/>
                <a:sym typeface="Agrandir"/>
              </a:rPr>
              <a:t>ummy Gmail + App Password</a:t>
            </a:r>
          </a:p>
        </p:txBody>
      </p:sp>
      <p:sp>
        <p:nvSpPr>
          <p:cNvPr name="TextBox 13" id="13"/>
          <p:cNvSpPr txBox="true"/>
          <p:nvPr/>
        </p:nvSpPr>
        <p:spPr>
          <a:xfrm rot="0">
            <a:off x="9067103" y="3672393"/>
            <a:ext cx="7391678" cy="1571910"/>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I first created a gmail account “testcgs@gmail.com” and took help of this video https://www.youtube.com/watch?v=m6tDfvHF3B8 to set app password when I competed the first part of the task.</a:t>
            </a:r>
          </a:p>
          <a:p>
            <a:pPr algn="just">
              <a:lnSpc>
                <a:spcPts val="2084"/>
              </a:lnSpc>
              <a:spcBef>
                <a:spcPct val="0"/>
              </a:spcBef>
            </a:pPr>
            <a:r>
              <a:rPr lang="en-US" sz="1488">
                <a:solidFill>
                  <a:srgbClr val="AE280B"/>
                </a:solidFill>
                <a:latin typeface="Agrandir"/>
                <a:ea typeface="Agrandir"/>
                <a:cs typeface="Agrandir"/>
                <a:sym typeface="Agrandir"/>
              </a:rPr>
              <a:t>Problems while signing in:</a:t>
            </a:r>
            <a:r>
              <a:rPr lang="en-US" sz="1488">
                <a:solidFill>
                  <a:srgbClr val="FFFFFF"/>
                </a:solidFill>
                <a:latin typeface="Agrandir"/>
                <a:ea typeface="Agrandir"/>
                <a:cs typeface="Agrandir"/>
                <a:sym typeface="Agrandir"/>
              </a:rPr>
              <a:t> If u set app password then you encounter many things while signing in that is as u enter your password to login u need to go to to g.co/sc to get the security code.</a:t>
            </a:r>
          </a:p>
        </p:txBody>
      </p:sp>
      <p:sp>
        <p:nvSpPr>
          <p:cNvPr name="Freeform 14" id="14"/>
          <p:cNvSpPr/>
          <p:nvPr/>
        </p:nvSpPr>
        <p:spPr>
          <a:xfrm flipH="true" flipV="false" rot="0">
            <a:off x="8310066" y="5280790"/>
            <a:ext cx="419770" cy="422072"/>
          </a:xfrm>
          <a:custGeom>
            <a:avLst/>
            <a:gdLst/>
            <a:ahLst/>
            <a:cxnLst/>
            <a:rect r="r" b="b" t="t" l="l"/>
            <a:pathLst>
              <a:path h="422072" w="419770">
                <a:moveTo>
                  <a:pt x="419770" y="0"/>
                </a:moveTo>
                <a:lnTo>
                  <a:pt x="0" y="0"/>
                </a:lnTo>
                <a:lnTo>
                  <a:pt x="0" y="422073"/>
                </a:lnTo>
                <a:lnTo>
                  <a:pt x="419770" y="422073"/>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9059109" y="5219710"/>
            <a:ext cx="5136285"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Working on code for part 1 of the Task</a:t>
            </a:r>
          </a:p>
        </p:txBody>
      </p:sp>
      <p:sp>
        <p:nvSpPr>
          <p:cNvPr name="TextBox 16" id="16"/>
          <p:cNvSpPr txBox="true"/>
          <p:nvPr/>
        </p:nvSpPr>
        <p:spPr>
          <a:xfrm rot="0">
            <a:off x="9067103" y="5697268"/>
            <a:ext cx="7391678" cy="1314735"/>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I worked on python code which could send email with smtplib. Wrote my own class timetable in the code and run the code. This was my fist code </a:t>
            </a:r>
            <a:r>
              <a:rPr lang="en-US" sz="1488">
                <a:solidFill>
                  <a:srgbClr val="00BF63"/>
                </a:solidFill>
                <a:latin typeface="Agrandir"/>
                <a:ea typeface="Agrandir"/>
                <a:cs typeface="Agrandir"/>
                <a:sym typeface="Agrandir"/>
              </a:rPr>
              <a:t>fig.1</a:t>
            </a:r>
            <a:r>
              <a:rPr lang="en-US" sz="1488">
                <a:solidFill>
                  <a:srgbClr val="FFFFFF"/>
                </a:solidFill>
                <a:latin typeface="Agrandir"/>
                <a:ea typeface="Agrandir"/>
                <a:cs typeface="Agrandir"/>
                <a:sym typeface="Agrandir"/>
              </a:rPr>
              <a:t>(without docket)</a:t>
            </a:r>
          </a:p>
          <a:p>
            <a:pPr algn="just">
              <a:lnSpc>
                <a:spcPts val="2084"/>
              </a:lnSpc>
              <a:spcBef>
                <a:spcPct val="0"/>
              </a:spcBef>
            </a:pPr>
            <a:r>
              <a:rPr lang="en-US" sz="1488">
                <a:solidFill>
                  <a:srgbClr val="AE280B"/>
                </a:solidFill>
                <a:latin typeface="Agrandir"/>
                <a:ea typeface="Agrandir"/>
                <a:cs typeface="Agrandir"/>
                <a:sym typeface="Agrandir"/>
              </a:rPr>
              <a:t>Problems</a:t>
            </a:r>
            <a:r>
              <a:rPr lang="en-US" sz="1488">
                <a:solidFill>
                  <a:srgbClr val="FFFFFF"/>
                </a:solidFill>
                <a:latin typeface="Agrandir"/>
                <a:ea typeface="Agrandir"/>
                <a:cs typeface="Agrandir"/>
                <a:sym typeface="Agrandir"/>
              </a:rPr>
              <a:t> : port 465 works with SMTP_SSL( ) but I was using SMTP( ) and starttls( ) which works with Port 587 since with the port 586 is not simple (need ehlo() etc) so ... I went with 465.</a:t>
            </a:r>
          </a:p>
        </p:txBody>
      </p:sp>
      <p:sp>
        <p:nvSpPr>
          <p:cNvPr name="Freeform 17" id="17"/>
          <p:cNvSpPr/>
          <p:nvPr/>
        </p:nvSpPr>
        <p:spPr>
          <a:xfrm flipH="true" flipV="false" rot="0">
            <a:off x="8310066" y="6994258"/>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9067103" y="6976927"/>
            <a:ext cx="5860970"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Code with schedule </a:t>
            </a:r>
          </a:p>
        </p:txBody>
      </p:sp>
      <p:sp>
        <p:nvSpPr>
          <p:cNvPr name="TextBox 19" id="19"/>
          <p:cNvSpPr txBox="true"/>
          <p:nvPr/>
        </p:nvSpPr>
        <p:spPr>
          <a:xfrm rot="0">
            <a:off x="9059109" y="7458316"/>
            <a:ext cx="7391678" cy="1057560"/>
          </a:xfrm>
          <a:prstGeom prst="rect">
            <a:avLst/>
          </a:prstGeom>
        </p:spPr>
        <p:txBody>
          <a:bodyPr anchor="t" rtlCol="false" tIns="0" lIns="0" bIns="0" rIns="0">
            <a:spAutoFit/>
          </a:bodyPr>
          <a:lstStyle/>
          <a:p>
            <a:pPr algn="just">
              <a:lnSpc>
                <a:spcPts val="2084"/>
              </a:lnSpc>
            </a:pPr>
            <a:r>
              <a:rPr lang="en-US" sz="1488">
                <a:solidFill>
                  <a:srgbClr val="00BF63"/>
                </a:solidFill>
                <a:latin typeface="Agrandir"/>
                <a:ea typeface="Agrandir"/>
                <a:cs typeface="Agrandir"/>
                <a:sym typeface="Agrandir"/>
              </a:rPr>
              <a:t>fig 2</a:t>
            </a:r>
            <a:r>
              <a:rPr lang="en-US" sz="1488">
                <a:solidFill>
                  <a:srgbClr val="FFFFFF"/>
                </a:solidFill>
                <a:latin typeface="Agrandir"/>
                <a:ea typeface="Agrandir"/>
                <a:cs typeface="Agrandir"/>
                <a:sym typeface="Agrandir"/>
              </a:rPr>
              <a:t> was the scheduled code and having all the updates of checking time and matching it with current timing and sending the mail if match found </a:t>
            </a:r>
          </a:p>
          <a:p>
            <a:pPr algn="just">
              <a:lnSpc>
                <a:spcPts val="2084"/>
              </a:lnSpc>
              <a:spcBef>
                <a:spcPct val="0"/>
              </a:spcBef>
            </a:pPr>
            <a:r>
              <a:rPr lang="en-US" sz="1488">
                <a:solidFill>
                  <a:srgbClr val="AE280B"/>
                </a:solidFill>
                <a:latin typeface="Agrandir"/>
                <a:ea typeface="Agrandir"/>
                <a:cs typeface="Agrandir"/>
                <a:sym typeface="Agrandir"/>
              </a:rPr>
              <a:t>Problems </a:t>
            </a:r>
            <a:r>
              <a:rPr lang="en-US" sz="1488">
                <a:solidFill>
                  <a:srgbClr val="FFFFFF"/>
                </a:solidFill>
                <a:latin typeface="Agrandir"/>
                <a:ea typeface="Agrandir"/>
                <a:cs typeface="Agrandir"/>
                <a:sym typeface="Agrandir"/>
              </a:rPr>
              <a:t>: even before this 24hr system was issue U can’t tell 06:00AM and 06:00PM we need need to say it as 06:00 and 18:00 respectively.</a:t>
            </a:r>
          </a:p>
        </p:txBody>
      </p:sp>
      <p:sp>
        <p:nvSpPr>
          <p:cNvPr name="TextBox 20" id="20"/>
          <p:cNvSpPr txBox="true"/>
          <p:nvPr/>
        </p:nvSpPr>
        <p:spPr>
          <a:xfrm rot="0">
            <a:off x="5397003" y="3014814"/>
            <a:ext cx="1267638" cy="448307"/>
          </a:xfrm>
          <a:prstGeom prst="rect">
            <a:avLst/>
          </a:prstGeom>
        </p:spPr>
        <p:txBody>
          <a:bodyPr anchor="t" rtlCol="false" tIns="0" lIns="0" bIns="0" rIns="0">
            <a:spAutoFit/>
          </a:bodyPr>
          <a:lstStyle/>
          <a:p>
            <a:pPr algn="ctr">
              <a:lnSpc>
                <a:spcPts val="3611"/>
              </a:lnSpc>
            </a:pPr>
            <a:r>
              <a:rPr lang="en-US" sz="2579" b="true">
                <a:solidFill>
                  <a:srgbClr val="FFFFFF"/>
                </a:solidFill>
                <a:latin typeface="Canva Sans Bold"/>
                <a:ea typeface="Canva Sans Bold"/>
                <a:cs typeface="Canva Sans Bold"/>
                <a:sym typeface="Canva Sans Bold"/>
              </a:rPr>
              <a:t>fig. a</a:t>
            </a:r>
          </a:p>
        </p:txBody>
      </p:sp>
      <p:sp>
        <p:nvSpPr>
          <p:cNvPr name="TextBox 21" id="21"/>
          <p:cNvSpPr txBox="true"/>
          <p:nvPr/>
        </p:nvSpPr>
        <p:spPr>
          <a:xfrm rot="0">
            <a:off x="5601952" y="7963218"/>
            <a:ext cx="1238479" cy="448307"/>
          </a:xfrm>
          <a:prstGeom prst="rect">
            <a:avLst/>
          </a:prstGeom>
        </p:spPr>
        <p:txBody>
          <a:bodyPr anchor="t" rtlCol="false" tIns="0" lIns="0" bIns="0" rIns="0">
            <a:spAutoFit/>
          </a:bodyPr>
          <a:lstStyle/>
          <a:p>
            <a:pPr algn="ctr">
              <a:lnSpc>
                <a:spcPts val="3611"/>
              </a:lnSpc>
            </a:pPr>
            <a:r>
              <a:rPr lang="en-US" sz="2579" b="true">
                <a:solidFill>
                  <a:srgbClr val="FFFFFF"/>
                </a:solidFill>
                <a:latin typeface="Canva Sans Bold"/>
                <a:ea typeface="Canva Sans Bold"/>
                <a:cs typeface="Canva Sans Bold"/>
                <a:sym typeface="Canva Sans Bold"/>
              </a:rPr>
              <a:t>fig. b</a:t>
            </a:r>
          </a:p>
        </p:txBody>
      </p:sp>
      <p:sp>
        <p:nvSpPr>
          <p:cNvPr name="TextBox 22" id="22"/>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05</a:t>
            </a:r>
          </a:p>
        </p:txBody>
      </p:sp>
      <p:sp>
        <p:nvSpPr>
          <p:cNvPr name="Freeform 23" id="23"/>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7"/>
            <a:stretch>
              <a:fillRect l="-10785" t="0" r="-10785"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5233133" y="-65784"/>
            <a:ext cx="7248909" cy="7288666"/>
          </a:xfrm>
          <a:custGeom>
            <a:avLst/>
            <a:gdLst/>
            <a:ahLst/>
            <a:cxnLst/>
            <a:rect r="r" b="b" t="t" l="l"/>
            <a:pathLst>
              <a:path h="7288666" w="7248909">
                <a:moveTo>
                  <a:pt x="7248910" y="0"/>
                </a:moveTo>
                <a:lnTo>
                  <a:pt x="0" y="0"/>
                </a:lnTo>
                <a:lnTo>
                  <a:pt x="0" y="7288666"/>
                </a:lnTo>
                <a:lnTo>
                  <a:pt x="7248910" y="7288666"/>
                </a:lnTo>
                <a:lnTo>
                  <a:pt x="7248910"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981240" y="6490392"/>
            <a:ext cx="4206902" cy="4229975"/>
          </a:xfrm>
          <a:custGeom>
            <a:avLst/>
            <a:gdLst/>
            <a:ahLst/>
            <a:cxnLst/>
            <a:rect r="r" b="b" t="t" l="l"/>
            <a:pathLst>
              <a:path h="4229975" w="4206902">
                <a:moveTo>
                  <a:pt x="4206902" y="0"/>
                </a:moveTo>
                <a:lnTo>
                  <a:pt x="0" y="0"/>
                </a:lnTo>
                <a:lnTo>
                  <a:pt x="0" y="4229975"/>
                </a:lnTo>
                <a:lnTo>
                  <a:pt x="4206902" y="4229975"/>
                </a:lnTo>
                <a:lnTo>
                  <a:pt x="420690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2225662" y="1804069"/>
            <a:ext cx="419770" cy="422072"/>
          </a:xfrm>
          <a:custGeom>
            <a:avLst/>
            <a:gdLst/>
            <a:ahLst/>
            <a:cxnLst/>
            <a:rect r="r" b="b" t="t" l="l"/>
            <a:pathLst>
              <a:path h="422072" w="419770">
                <a:moveTo>
                  <a:pt x="419770" y="0"/>
                </a:moveTo>
                <a:lnTo>
                  <a:pt x="0" y="0"/>
                </a:lnTo>
                <a:lnTo>
                  <a:pt x="0" y="422073"/>
                </a:lnTo>
                <a:lnTo>
                  <a:pt x="419770" y="422073"/>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618757" y="7005280"/>
            <a:ext cx="3485195" cy="2746715"/>
          </a:xfrm>
          <a:custGeom>
            <a:avLst/>
            <a:gdLst/>
            <a:ahLst/>
            <a:cxnLst/>
            <a:rect r="r" b="b" t="t" l="l"/>
            <a:pathLst>
              <a:path h="2746715" w="3485195">
                <a:moveTo>
                  <a:pt x="0" y="0"/>
                </a:moveTo>
                <a:lnTo>
                  <a:pt x="3485196" y="0"/>
                </a:lnTo>
                <a:lnTo>
                  <a:pt x="3485196" y="2746715"/>
                </a:lnTo>
                <a:lnTo>
                  <a:pt x="0" y="2746715"/>
                </a:lnTo>
                <a:lnTo>
                  <a:pt x="0" y="0"/>
                </a:lnTo>
                <a:close/>
              </a:path>
            </a:pathLst>
          </a:custGeom>
          <a:blipFill>
            <a:blip r:embed="rId5"/>
            <a:stretch>
              <a:fillRect l="0" t="-17206" r="0" b="-10317"/>
            </a:stretch>
          </a:blipFill>
        </p:spPr>
      </p:sp>
      <p:sp>
        <p:nvSpPr>
          <p:cNvPr name="Freeform 8" id="8"/>
          <p:cNvSpPr/>
          <p:nvPr/>
        </p:nvSpPr>
        <p:spPr>
          <a:xfrm flipH="false" flipV="false" rot="0">
            <a:off x="2885296" y="7005280"/>
            <a:ext cx="3724780" cy="2794865"/>
          </a:xfrm>
          <a:custGeom>
            <a:avLst/>
            <a:gdLst/>
            <a:ahLst/>
            <a:cxnLst/>
            <a:rect r="r" b="b" t="t" l="l"/>
            <a:pathLst>
              <a:path h="2794865" w="3724780">
                <a:moveTo>
                  <a:pt x="0" y="0"/>
                </a:moveTo>
                <a:lnTo>
                  <a:pt x="3724780" y="0"/>
                </a:lnTo>
                <a:lnTo>
                  <a:pt x="3724780" y="2794865"/>
                </a:lnTo>
                <a:lnTo>
                  <a:pt x="0" y="2794865"/>
                </a:lnTo>
                <a:lnTo>
                  <a:pt x="0" y="0"/>
                </a:lnTo>
                <a:close/>
              </a:path>
            </a:pathLst>
          </a:custGeom>
          <a:blipFill>
            <a:blip r:embed="rId6"/>
            <a:stretch>
              <a:fillRect l="0" t="-18422" r="0" b="0"/>
            </a:stretch>
          </a:blipFill>
        </p:spPr>
      </p:sp>
      <p:sp>
        <p:nvSpPr>
          <p:cNvPr name="Freeform 9" id="9"/>
          <p:cNvSpPr/>
          <p:nvPr/>
        </p:nvSpPr>
        <p:spPr>
          <a:xfrm flipH="false" flipV="false" rot="0">
            <a:off x="6837370" y="7927879"/>
            <a:ext cx="1552787" cy="434780"/>
          </a:xfrm>
          <a:custGeom>
            <a:avLst/>
            <a:gdLst/>
            <a:ahLst/>
            <a:cxnLst/>
            <a:rect r="r" b="b" t="t" l="l"/>
            <a:pathLst>
              <a:path h="434780" w="1552787">
                <a:moveTo>
                  <a:pt x="0" y="0"/>
                </a:moveTo>
                <a:lnTo>
                  <a:pt x="1552787" y="0"/>
                </a:lnTo>
                <a:lnTo>
                  <a:pt x="1552787" y="434780"/>
                </a:lnTo>
                <a:lnTo>
                  <a:pt x="0" y="4347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false" rot="0">
            <a:off x="2435547" y="2513289"/>
            <a:ext cx="209885" cy="211036"/>
          </a:xfrm>
          <a:custGeom>
            <a:avLst/>
            <a:gdLst/>
            <a:ahLst/>
            <a:cxnLst/>
            <a:rect r="r" b="b" t="t" l="l"/>
            <a:pathLst>
              <a:path h="211036" w="209885">
                <a:moveTo>
                  <a:pt x="209885" y="0"/>
                </a:moveTo>
                <a:lnTo>
                  <a:pt x="0" y="0"/>
                </a:lnTo>
                <a:lnTo>
                  <a:pt x="0" y="211036"/>
                </a:lnTo>
                <a:lnTo>
                  <a:pt x="209885" y="211036"/>
                </a:lnTo>
                <a:lnTo>
                  <a:pt x="20988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false" rot="0">
            <a:off x="2435547" y="4047099"/>
            <a:ext cx="209885" cy="211036"/>
          </a:xfrm>
          <a:custGeom>
            <a:avLst/>
            <a:gdLst/>
            <a:ahLst/>
            <a:cxnLst/>
            <a:rect r="r" b="b" t="t" l="l"/>
            <a:pathLst>
              <a:path h="211036" w="209885">
                <a:moveTo>
                  <a:pt x="209885" y="0"/>
                </a:moveTo>
                <a:lnTo>
                  <a:pt x="0" y="0"/>
                </a:lnTo>
                <a:lnTo>
                  <a:pt x="0" y="211036"/>
                </a:lnTo>
                <a:lnTo>
                  <a:pt x="209885" y="211036"/>
                </a:lnTo>
                <a:lnTo>
                  <a:pt x="209885"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2692512" y="2058800"/>
            <a:ext cx="4903578" cy="3705474"/>
          </a:xfrm>
          <a:custGeom>
            <a:avLst/>
            <a:gdLst/>
            <a:ahLst/>
            <a:cxnLst/>
            <a:rect r="r" b="b" t="t" l="l"/>
            <a:pathLst>
              <a:path h="3705474" w="4903578">
                <a:moveTo>
                  <a:pt x="0" y="0"/>
                </a:moveTo>
                <a:lnTo>
                  <a:pt x="4903578" y="0"/>
                </a:lnTo>
                <a:lnTo>
                  <a:pt x="4903578" y="3705474"/>
                </a:lnTo>
                <a:lnTo>
                  <a:pt x="0" y="3705474"/>
                </a:lnTo>
                <a:lnTo>
                  <a:pt x="0" y="0"/>
                </a:lnTo>
                <a:close/>
              </a:path>
            </a:pathLst>
          </a:custGeom>
          <a:blipFill>
            <a:blip r:embed="rId11"/>
            <a:stretch>
              <a:fillRect l="0" t="0" r="0" b="0"/>
            </a:stretch>
          </a:blipFill>
        </p:spPr>
      </p:sp>
      <p:sp>
        <p:nvSpPr>
          <p:cNvPr name="TextBox 13" id="13"/>
          <p:cNvSpPr txBox="true"/>
          <p:nvPr/>
        </p:nvSpPr>
        <p:spPr>
          <a:xfrm rot="0">
            <a:off x="2885296" y="3980424"/>
            <a:ext cx="9388116" cy="2857785"/>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while working I found that this my current script sends the mail as</a:t>
            </a:r>
            <a:r>
              <a:rPr lang="en-US" sz="1488">
                <a:solidFill>
                  <a:srgbClr val="00BF63"/>
                </a:solidFill>
                <a:latin typeface="Agrandir"/>
                <a:ea typeface="Agrandir"/>
                <a:cs typeface="Agrandir"/>
                <a:sym typeface="Agrandir"/>
              </a:rPr>
              <a:t> fig 3</a:t>
            </a:r>
            <a:r>
              <a:rPr lang="en-US" sz="1488">
                <a:solidFill>
                  <a:srgbClr val="FFFFFF"/>
                </a:solidFill>
                <a:latin typeface="Agrandir"/>
                <a:ea typeface="Agrandir"/>
                <a:cs typeface="Agrandir"/>
                <a:sym typeface="Agrandir"/>
              </a:rPr>
              <a:t> so I changed the schedule format as </a:t>
            </a:r>
            <a:r>
              <a:rPr lang="en-US" sz="1488">
                <a:solidFill>
                  <a:srgbClr val="00BF63"/>
                </a:solidFill>
                <a:latin typeface="Agrandir"/>
                <a:ea typeface="Agrandir"/>
                <a:cs typeface="Agrandir"/>
                <a:sym typeface="Agrandir"/>
              </a:rPr>
              <a:t>fig 4</a:t>
            </a:r>
            <a:r>
              <a:rPr lang="en-US" sz="1488">
                <a:solidFill>
                  <a:srgbClr val="FFFFFF"/>
                </a:solidFill>
                <a:latin typeface="Agrandir"/>
                <a:ea typeface="Agrandir"/>
                <a:cs typeface="Agrandir"/>
                <a:sym typeface="Agrandir"/>
              </a:rPr>
              <a:t>. and  the message line in the script also changed, from</a:t>
            </a:r>
          </a:p>
          <a:p>
            <a:pPr algn="just">
              <a:lnSpc>
                <a:spcPts val="2084"/>
              </a:lnSpc>
            </a:pPr>
            <a:r>
              <a:rPr lang="en-US" sz="1488">
                <a:solidFill>
                  <a:srgbClr val="E2A9F1"/>
                </a:solidFill>
                <a:latin typeface="Agrandir"/>
                <a:ea typeface="Agrandir"/>
                <a:cs typeface="Agrandir"/>
                <a:sym typeface="Agrandir"/>
              </a:rPr>
              <a:t>message = f"Subject:Reminder - {cls['subject']}\n\nClass: {cls['subject']}\nRoom: {cls['room']}\nTime: {cls['time']}"</a:t>
            </a:r>
          </a:p>
          <a:p>
            <a:pPr algn="just">
              <a:lnSpc>
                <a:spcPts val="2084"/>
              </a:lnSpc>
            </a:pPr>
            <a:r>
              <a:rPr lang="en-US" sz="1488">
                <a:solidFill>
                  <a:srgbClr val="FFFFFF"/>
                </a:solidFill>
                <a:latin typeface="Agrandir"/>
                <a:ea typeface="Agrandir"/>
                <a:cs typeface="Agrandir"/>
                <a:sym typeface="Agrandir"/>
              </a:rPr>
              <a:t>to</a:t>
            </a:r>
          </a:p>
          <a:p>
            <a:pPr algn="just">
              <a:lnSpc>
                <a:spcPts val="2084"/>
              </a:lnSpc>
            </a:pPr>
            <a:r>
              <a:rPr lang="en-US" sz="1488">
                <a:solidFill>
                  <a:srgbClr val="E2A9F1"/>
                </a:solidFill>
                <a:latin typeface="Agrandir"/>
                <a:ea typeface="Agrandir"/>
                <a:cs typeface="Agrandir"/>
                <a:sym typeface="Agrandir"/>
              </a:rPr>
              <a:t>message = f"Subject:CLASS REMINDER - {cls['subject']}\n\nSubject   :  {cls['subject']}\nRoom      :  {cls['room']}\nStarts      :  {cls['start_time']}"</a:t>
            </a:r>
          </a:p>
          <a:p>
            <a:pPr algn="just">
              <a:lnSpc>
                <a:spcPts val="2084"/>
              </a:lnSpc>
            </a:pPr>
            <a:r>
              <a:rPr lang="en-US" sz="1488">
                <a:solidFill>
                  <a:srgbClr val="FFFFFF"/>
                </a:solidFill>
                <a:latin typeface="Agrandir"/>
                <a:ea typeface="Agrandir"/>
                <a:cs typeface="Agrandir"/>
                <a:sym typeface="Agrandir"/>
              </a:rPr>
              <a:t>This was done because pythonanywhere runs our script runs top to bottom and exits. It sends an email only if you happen to run it in the exact minute that matches a "time" entry (e.g. exactly 07:45). Otherwise it does nothing and this thing also happened in other way also( in road 3 ).</a:t>
            </a:r>
          </a:p>
          <a:p>
            <a:pPr algn="just">
              <a:lnSpc>
                <a:spcPts val="2084"/>
              </a:lnSpc>
            </a:pPr>
            <a:r>
              <a:rPr lang="en-US" sz="1488">
                <a:solidFill>
                  <a:srgbClr val="FFFFFF"/>
                </a:solidFill>
                <a:latin typeface="Agrandir"/>
                <a:ea typeface="Agrandir"/>
                <a:cs typeface="Agrandir"/>
                <a:sym typeface="Agrandir"/>
              </a:rPr>
              <a:t>check fig 4</a:t>
            </a:r>
          </a:p>
          <a:p>
            <a:pPr algn="just">
              <a:lnSpc>
                <a:spcPts val="2084"/>
              </a:lnSpc>
              <a:spcBef>
                <a:spcPct val="0"/>
              </a:spcBef>
            </a:pPr>
            <a:r>
              <a:rPr lang="en-US" sz="1488">
                <a:solidFill>
                  <a:srgbClr val="FFFFFF"/>
                </a:solidFill>
                <a:latin typeface="Agrandir"/>
                <a:ea typeface="Agrandir"/>
                <a:cs typeface="Agrandir"/>
                <a:sym typeface="Agrandir"/>
              </a:rPr>
              <a:t>It checks checks the “time” (15min before) and give output as </a:t>
            </a:r>
          </a:p>
        </p:txBody>
      </p:sp>
      <p:sp>
        <p:nvSpPr>
          <p:cNvPr name="TextBox 14" id="14"/>
          <p:cNvSpPr txBox="true"/>
          <p:nvPr/>
        </p:nvSpPr>
        <p:spPr>
          <a:xfrm rot="0">
            <a:off x="2885296" y="1786683"/>
            <a:ext cx="6127282"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While working for Part 2 : PythonAnywher</a:t>
            </a:r>
            <a:r>
              <a:rPr lang="en-US" sz="2199">
                <a:solidFill>
                  <a:srgbClr val="FFA800"/>
                </a:solidFill>
                <a:latin typeface="Agrandir"/>
                <a:ea typeface="Agrandir"/>
                <a:cs typeface="Agrandir"/>
                <a:sym typeface="Agrandir"/>
              </a:rPr>
              <a:t>e </a:t>
            </a:r>
          </a:p>
        </p:txBody>
      </p:sp>
      <p:sp>
        <p:nvSpPr>
          <p:cNvPr name="TextBox 15" id="15"/>
          <p:cNvSpPr txBox="true"/>
          <p:nvPr/>
        </p:nvSpPr>
        <p:spPr>
          <a:xfrm rot="0">
            <a:off x="2885296" y="2446614"/>
            <a:ext cx="9388116" cy="1314735"/>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PythonAnywhere is not for free </a:t>
            </a:r>
          </a:p>
          <a:p>
            <a:pPr algn="just">
              <a:lnSpc>
                <a:spcPts val="2084"/>
              </a:lnSpc>
              <a:spcBef>
                <a:spcPct val="0"/>
              </a:spcBef>
            </a:pPr>
            <a:r>
              <a:rPr lang="en-US" sz="1488">
                <a:solidFill>
                  <a:srgbClr val="FFFFFF"/>
                </a:solidFill>
                <a:latin typeface="Agrandir"/>
                <a:ea typeface="Agrandir"/>
                <a:cs typeface="Agrandir"/>
                <a:sym typeface="Agrandir"/>
              </a:rPr>
              <a:t>PythonAnywhere's free tier only allows a scheduled task to run once per day, not every few minutes (that frequent scheduling is a paid-only feature there). So with our script , even with a task set up, we only  catch one class on a lucky day when the single daily run happened to land on an exact class time — every other class that day would get no email at all.</a:t>
            </a:r>
          </a:p>
        </p:txBody>
      </p:sp>
      <p:sp>
        <p:nvSpPr>
          <p:cNvPr name="TextBox 16" id="16"/>
          <p:cNvSpPr txBox="true"/>
          <p:nvPr/>
        </p:nvSpPr>
        <p:spPr>
          <a:xfrm rot="0">
            <a:off x="4185419" y="9303688"/>
            <a:ext cx="1143584" cy="448307"/>
          </a:xfrm>
          <a:prstGeom prst="rect">
            <a:avLst/>
          </a:prstGeom>
        </p:spPr>
        <p:txBody>
          <a:bodyPr anchor="t" rtlCol="false" tIns="0" lIns="0" bIns="0" rIns="0">
            <a:spAutoFit/>
          </a:bodyPr>
          <a:lstStyle/>
          <a:p>
            <a:pPr algn="ctr">
              <a:lnSpc>
                <a:spcPts val="3611"/>
              </a:lnSpc>
            </a:pPr>
            <a:r>
              <a:rPr lang="en-US" sz="2579" b="true">
                <a:solidFill>
                  <a:srgbClr val="FFFFFF"/>
                </a:solidFill>
                <a:latin typeface="Canva Sans Bold"/>
                <a:ea typeface="Canva Sans Bold"/>
                <a:cs typeface="Canva Sans Bold"/>
                <a:sym typeface="Canva Sans Bold"/>
              </a:rPr>
              <a:t>fig. c</a:t>
            </a:r>
          </a:p>
        </p:txBody>
      </p:sp>
      <p:sp>
        <p:nvSpPr>
          <p:cNvPr name="TextBox 17" id="17"/>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06</a:t>
            </a:r>
          </a:p>
        </p:txBody>
      </p:sp>
      <p:sp>
        <p:nvSpPr>
          <p:cNvPr name="Freeform 18" id="18"/>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12"/>
            <a:stretch>
              <a:fillRect l="-10785" t="0" r="-10785"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5233133" y="-65784"/>
            <a:ext cx="7248909" cy="7288666"/>
          </a:xfrm>
          <a:custGeom>
            <a:avLst/>
            <a:gdLst/>
            <a:ahLst/>
            <a:cxnLst/>
            <a:rect r="r" b="b" t="t" l="l"/>
            <a:pathLst>
              <a:path h="7288666" w="7248909">
                <a:moveTo>
                  <a:pt x="7248910" y="0"/>
                </a:moveTo>
                <a:lnTo>
                  <a:pt x="0" y="0"/>
                </a:lnTo>
                <a:lnTo>
                  <a:pt x="0" y="7288666"/>
                </a:lnTo>
                <a:lnTo>
                  <a:pt x="7248910" y="7288666"/>
                </a:lnTo>
                <a:lnTo>
                  <a:pt x="7248910"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489204" y="1398530"/>
            <a:ext cx="7719933"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PythonAnywhere</a:t>
            </a:r>
          </a:p>
        </p:txBody>
      </p:sp>
      <p:sp>
        <p:nvSpPr>
          <p:cNvPr name="TextBox 6" id="6"/>
          <p:cNvSpPr txBox="true"/>
          <p:nvPr/>
        </p:nvSpPr>
        <p:spPr>
          <a:xfrm rot="0">
            <a:off x="4110009" y="1398530"/>
            <a:ext cx="2379195"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since</a:t>
            </a:r>
          </a:p>
        </p:txBody>
      </p:sp>
      <p:sp>
        <p:nvSpPr>
          <p:cNvPr name="TextBox 7" id="7"/>
          <p:cNvSpPr txBox="true"/>
          <p:nvPr/>
        </p:nvSpPr>
        <p:spPr>
          <a:xfrm rot="0">
            <a:off x="2772814" y="4822594"/>
            <a:ext cx="3890159" cy="2344071"/>
          </a:xfrm>
          <a:prstGeom prst="rect">
            <a:avLst/>
          </a:prstGeom>
        </p:spPr>
        <p:txBody>
          <a:bodyPr anchor="t" rtlCol="false" tIns="0" lIns="0" bIns="0" rIns="0">
            <a:spAutoFit/>
          </a:bodyPr>
          <a:lstStyle/>
          <a:p>
            <a:pPr algn="just">
              <a:lnSpc>
                <a:spcPts val="3624"/>
              </a:lnSpc>
              <a:spcBef>
                <a:spcPct val="0"/>
              </a:spcBef>
            </a:pPr>
            <a:r>
              <a:rPr lang="en-US" sz="2588">
                <a:solidFill>
                  <a:srgbClr val="FFFFFF"/>
                </a:solidFill>
                <a:latin typeface="Agrandir"/>
                <a:ea typeface="Agrandir"/>
                <a:cs typeface="Agrandir"/>
                <a:sym typeface="Agrandir"/>
              </a:rPr>
              <a:t>It was for working on python anywhere and code and the details of login are provided I could not tes</a:t>
            </a:r>
          </a:p>
        </p:txBody>
      </p:sp>
      <p:sp>
        <p:nvSpPr>
          <p:cNvPr name="Freeform 8" id="8"/>
          <p:cNvSpPr/>
          <p:nvPr/>
        </p:nvSpPr>
        <p:spPr>
          <a:xfrm flipH="true" flipV="false" rot="0">
            <a:off x="-1981240" y="6490392"/>
            <a:ext cx="4206902" cy="4229975"/>
          </a:xfrm>
          <a:custGeom>
            <a:avLst/>
            <a:gdLst/>
            <a:ahLst/>
            <a:cxnLst/>
            <a:rect r="r" b="b" t="t" l="l"/>
            <a:pathLst>
              <a:path h="4229975" w="4206902">
                <a:moveTo>
                  <a:pt x="4206902" y="0"/>
                </a:moveTo>
                <a:lnTo>
                  <a:pt x="0" y="0"/>
                </a:lnTo>
                <a:lnTo>
                  <a:pt x="0" y="4229975"/>
                </a:lnTo>
                <a:lnTo>
                  <a:pt x="4206902" y="4229975"/>
                </a:lnTo>
                <a:lnTo>
                  <a:pt x="420690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2015777" y="4349067"/>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2772814" y="4240389"/>
            <a:ext cx="3367158" cy="659093"/>
          </a:xfrm>
          <a:prstGeom prst="rect">
            <a:avLst/>
          </a:prstGeom>
        </p:spPr>
        <p:txBody>
          <a:bodyPr anchor="t" rtlCol="false" tIns="0" lIns="0" bIns="0" rIns="0">
            <a:spAutoFit/>
          </a:bodyPr>
          <a:lstStyle/>
          <a:p>
            <a:pPr algn="l">
              <a:lnSpc>
                <a:spcPts val="4619"/>
              </a:lnSpc>
              <a:spcBef>
                <a:spcPct val="0"/>
              </a:spcBef>
            </a:pPr>
            <a:r>
              <a:rPr lang="en-US" sz="3299">
                <a:solidFill>
                  <a:srgbClr val="FFA800"/>
                </a:solidFill>
                <a:latin typeface="Agrandir"/>
                <a:ea typeface="Agrandir"/>
                <a:cs typeface="Agrandir"/>
                <a:sym typeface="Agrandir"/>
              </a:rPr>
              <a:t>Road 1</a:t>
            </a:r>
          </a:p>
        </p:txBody>
      </p:sp>
      <p:sp>
        <p:nvSpPr>
          <p:cNvPr name="TextBox 11" id="11"/>
          <p:cNvSpPr txBox="true"/>
          <p:nvPr/>
        </p:nvSpPr>
        <p:spPr>
          <a:xfrm rot="0">
            <a:off x="7953246" y="4822594"/>
            <a:ext cx="3890159" cy="3258471"/>
          </a:xfrm>
          <a:prstGeom prst="rect">
            <a:avLst/>
          </a:prstGeom>
        </p:spPr>
        <p:txBody>
          <a:bodyPr anchor="t" rtlCol="false" tIns="0" lIns="0" bIns="0" rIns="0">
            <a:spAutoFit/>
          </a:bodyPr>
          <a:lstStyle/>
          <a:p>
            <a:pPr algn="just">
              <a:lnSpc>
                <a:spcPts val="3624"/>
              </a:lnSpc>
              <a:spcBef>
                <a:spcPct val="0"/>
              </a:spcBef>
            </a:pPr>
            <a:r>
              <a:rPr lang="en-US" sz="2588">
                <a:solidFill>
                  <a:srgbClr val="FFFFFF"/>
                </a:solidFill>
                <a:latin typeface="Agrandir"/>
                <a:ea typeface="Agrandir"/>
                <a:cs typeface="Agrandir"/>
                <a:sym typeface="Agrandir"/>
              </a:rPr>
              <a:t>It works on the Python anywhere only and sends the timetable of todays day it contains full information of the classes today the person have </a:t>
            </a:r>
          </a:p>
        </p:txBody>
      </p:sp>
      <p:sp>
        <p:nvSpPr>
          <p:cNvPr name="Freeform 12" id="12"/>
          <p:cNvSpPr/>
          <p:nvPr/>
        </p:nvSpPr>
        <p:spPr>
          <a:xfrm flipH="true" flipV="false" rot="0">
            <a:off x="7196210" y="4349067"/>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7953246" y="4240389"/>
            <a:ext cx="3367158" cy="659093"/>
          </a:xfrm>
          <a:prstGeom prst="rect">
            <a:avLst/>
          </a:prstGeom>
        </p:spPr>
        <p:txBody>
          <a:bodyPr anchor="t" rtlCol="false" tIns="0" lIns="0" bIns="0" rIns="0">
            <a:spAutoFit/>
          </a:bodyPr>
          <a:lstStyle/>
          <a:p>
            <a:pPr algn="l">
              <a:lnSpc>
                <a:spcPts val="4619"/>
              </a:lnSpc>
              <a:spcBef>
                <a:spcPct val="0"/>
              </a:spcBef>
            </a:pPr>
            <a:r>
              <a:rPr lang="en-US" sz="3299">
                <a:solidFill>
                  <a:srgbClr val="FFA800"/>
                </a:solidFill>
                <a:latin typeface="Agrandir"/>
                <a:ea typeface="Agrandir"/>
                <a:cs typeface="Agrandir"/>
                <a:sym typeface="Agrandir"/>
              </a:rPr>
              <a:t>Road 2</a:t>
            </a:r>
          </a:p>
        </p:txBody>
      </p:sp>
      <p:sp>
        <p:nvSpPr>
          <p:cNvPr name="TextBox 14" id="14"/>
          <p:cNvSpPr txBox="true"/>
          <p:nvPr/>
        </p:nvSpPr>
        <p:spPr>
          <a:xfrm rot="0">
            <a:off x="13133679" y="4822594"/>
            <a:ext cx="3890159" cy="3258471"/>
          </a:xfrm>
          <a:prstGeom prst="rect">
            <a:avLst/>
          </a:prstGeom>
        </p:spPr>
        <p:txBody>
          <a:bodyPr anchor="t" rtlCol="false" tIns="0" lIns="0" bIns="0" rIns="0">
            <a:spAutoFit/>
          </a:bodyPr>
          <a:lstStyle/>
          <a:p>
            <a:pPr algn="just">
              <a:lnSpc>
                <a:spcPts val="3624"/>
              </a:lnSpc>
              <a:spcBef>
                <a:spcPct val="0"/>
              </a:spcBef>
            </a:pPr>
            <a:r>
              <a:rPr lang="en-US" sz="2588">
                <a:solidFill>
                  <a:srgbClr val="FFFFFF"/>
                </a:solidFill>
                <a:latin typeface="Agrandir"/>
                <a:ea typeface="Agrandir"/>
                <a:cs typeface="Agrandir"/>
                <a:sym typeface="Agrandir"/>
              </a:rPr>
              <a:t>It works on git hub and sends the class details  around 10-15 minutes before the class on this way we will see there are still many thing need to be sorted.</a:t>
            </a:r>
          </a:p>
        </p:txBody>
      </p:sp>
      <p:sp>
        <p:nvSpPr>
          <p:cNvPr name="Freeform 15" id="15"/>
          <p:cNvSpPr/>
          <p:nvPr/>
        </p:nvSpPr>
        <p:spPr>
          <a:xfrm flipH="true" flipV="false" rot="0">
            <a:off x="12376642" y="4349067"/>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3133679" y="4240389"/>
            <a:ext cx="3367158" cy="659093"/>
          </a:xfrm>
          <a:prstGeom prst="rect">
            <a:avLst/>
          </a:prstGeom>
        </p:spPr>
        <p:txBody>
          <a:bodyPr anchor="t" rtlCol="false" tIns="0" lIns="0" bIns="0" rIns="0">
            <a:spAutoFit/>
          </a:bodyPr>
          <a:lstStyle/>
          <a:p>
            <a:pPr algn="l">
              <a:lnSpc>
                <a:spcPts val="4619"/>
              </a:lnSpc>
              <a:spcBef>
                <a:spcPct val="0"/>
              </a:spcBef>
            </a:pPr>
            <a:r>
              <a:rPr lang="en-US" sz="3299">
                <a:solidFill>
                  <a:srgbClr val="FFA800"/>
                </a:solidFill>
                <a:latin typeface="Agrandir"/>
                <a:ea typeface="Agrandir"/>
                <a:cs typeface="Agrandir"/>
                <a:sym typeface="Agrandir"/>
              </a:rPr>
              <a:t>Road 3</a:t>
            </a:r>
          </a:p>
        </p:txBody>
      </p:sp>
      <p:sp>
        <p:nvSpPr>
          <p:cNvPr name="TextBox 17" id="17"/>
          <p:cNvSpPr txBox="true"/>
          <p:nvPr/>
        </p:nvSpPr>
        <p:spPr>
          <a:xfrm rot="0">
            <a:off x="3755540" y="2700605"/>
            <a:ext cx="6494754" cy="646391"/>
          </a:xfrm>
          <a:prstGeom prst="rect">
            <a:avLst/>
          </a:prstGeom>
        </p:spPr>
        <p:txBody>
          <a:bodyPr anchor="t" rtlCol="false" tIns="0" lIns="0" bIns="0" rIns="0">
            <a:spAutoFit/>
          </a:bodyPr>
          <a:lstStyle/>
          <a:p>
            <a:pPr algn="ctr">
              <a:lnSpc>
                <a:spcPts val="5320"/>
              </a:lnSpc>
            </a:pPr>
            <a:r>
              <a:rPr lang="en-US" sz="3800" b="true">
                <a:solidFill>
                  <a:srgbClr val="FFFFFF"/>
                </a:solidFill>
                <a:latin typeface="Canva Sans Bold"/>
                <a:ea typeface="Canva Sans Bold"/>
                <a:cs typeface="Canva Sans Bold"/>
                <a:sym typeface="Canva Sans Bold"/>
              </a:rPr>
              <a:t>Is not for free I have 3 ways </a:t>
            </a:r>
          </a:p>
        </p:txBody>
      </p:sp>
      <p:sp>
        <p:nvSpPr>
          <p:cNvPr name="TextBox 18" id="18"/>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07</a:t>
            </a:r>
          </a:p>
        </p:txBody>
      </p:sp>
      <p:sp>
        <p:nvSpPr>
          <p:cNvPr name="Freeform 19" id="19"/>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5"/>
            <a:stretch>
              <a:fillRect l="-10785" t="0" r="-10785" b="0"/>
            </a:stretch>
          </a:blipFill>
        </p:spPr>
      </p:sp>
      <p:sp>
        <p:nvSpPr>
          <p:cNvPr name="TextBox 20" id="20"/>
          <p:cNvSpPr txBox="true"/>
          <p:nvPr/>
        </p:nvSpPr>
        <p:spPr>
          <a:xfrm rot="0">
            <a:off x="2772814" y="7533993"/>
            <a:ext cx="4277982" cy="547072"/>
          </a:xfrm>
          <a:prstGeom prst="rect">
            <a:avLst/>
          </a:prstGeom>
        </p:spPr>
        <p:txBody>
          <a:bodyPr anchor="t" rtlCol="false" tIns="0" lIns="0" bIns="0" rIns="0">
            <a:spAutoFit/>
          </a:bodyPr>
          <a:lstStyle/>
          <a:p>
            <a:pPr algn="l">
              <a:lnSpc>
                <a:spcPts val="3969"/>
              </a:lnSpc>
              <a:spcBef>
                <a:spcPct val="0"/>
              </a:spcBef>
            </a:pPr>
            <a:r>
              <a:rPr lang="en-US" sz="2835" b="true">
                <a:solidFill>
                  <a:srgbClr val="FFA800"/>
                </a:solidFill>
                <a:latin typeface="Agrandir Bold"/>
                <a:ea typeface="Agrandir Bold"/>
                <a:cs typeface="Agrandir Bold"/>
                <a:sym typeface="Agrandir Bold"/>
              </a:rPr>
              <a:t>pg no. 8</a:t>
            </a:r>
          </a:p>
        </p:txBody>
      </p:sp>
      <p:sp>
        <p:nvSpPr>
          <p:cNvPr name="TextBox 21" id="21"/>
          <p:cNvSpPr txBox="true"/>
          <p:nvPr/>
        </p:nvSpPr>
        <p:spPr>
          <a:xfrm rot="0">
            <a:off x="7953246" y="8269931"/>
            <a:ext cx="4277982" cy="547072"/>
          </a:xfrm>
          <a:prstGeom prst="rect">
            <a:avLst/>
          </a:prstGeom>
        </p:spPr>
        <p:txBody>
          <a:bodyPr anchor="t" rtlCol="false" tIns="0" lIns="0" bIns="0" rIns="0">
            <a:spAutoFit/>
          </a:bodyPr>
          <a:lstStyle/>
          <a:p>
            <a:pPr algn="l">
              <a:lnSpc>
                <a:spcPts val="3969"/>
              </a:lnSpc>
              <a:spcBef>
                <a:spcPct val="0"/>
              </a:spcBef>
            </a:pPr>
            <a:r>
              <a:rPr lang="en-US" sz="2835" b="true">
                <a:solidFill>
                  <a:srgbClr val="FFA800"/>
                </a:solidFill>
                <a:latin typeface="Agrandir Bold"/>
                <a:ea typeface="Agrandir Bold"/>
                <a:cs typeface="Agrandir Bold"/>
                <a:sym typeface="Agrandir Bold"/>
              </a:rPr>
              <a:t>pg no. 11</a:t>
            </a:r>
          </a:p>
        </p:txBody>
      </p:sp>
      <p:sp>
        <p:nvSpPr>
          <p:cNvPr name="TextBox 22" id="22"/>
          <p:cNvSpPr txBox="true"/>
          <p:nvPr/>
        </p:nvSpPr>
        <p:spPr>
          <a:xfrm rot="0">
            <a:off x="13133679" y="8269931"/>
            <a:ext cx="4277982" cy="547072"/>
          </a:xfrm>
          <a:prstGeom prst="rect">
            <a:avLst/>
          </a:prstGeom>
        </p:spPr>
        <p:txBody>
          <a:bodyPr anchor="t" rtlCol="false" tIns="0" lIns="0" bIns="0" rIns="0">
            <a:spAutoFit/>
          </a:bodyPr>
          <a:lstStyle/>
          <a:p>
            <a:pPr algn="l">
              <a:lnSpc>
                <a:spcPts val="3969"/>
              </a:lnSpc>
              <a:spcBef>
                <a:spcPct val="0"/>
              </a:spcBef>
            </a:pPr>
            <a:r>
              <a:rPr lang="en-US" sz="2835" b="true">
                <a:solidFill>
                  <a:srgbClr val="FFA800"/>
                </a:solidFill>
                <a:latin typeface="Agrandir Bold"/>
                <a:ea typeface="Agrandir Bold"/>
                <a:cs typeface="Agrandir Bold"/>
                <a:sym typeface="Agrandir Bold"/>
              </a:rPr>
              <a:t>pg no. 13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2947430" y="-351351"/>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3570029" y="5143500"/>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1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9785014" y="-103783"/>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177690" y="5038892"/>
            <a:ext cx="5214647" cy="2895354"/>
            <a:chOff x="0" y="0"/>
            <a:chExt cx="807885" cy="448566"/>
          </a:xfrm>
        </p:grpSpPr>
        <p:sp>
          <p:nvSpPr>
            <p:cNvPr name="Freeform 7" id="7"/>
            <p:cNvSpPr/>
            <p:nvPr/>
          </p:nvSpPr>
          <p:spPr>
            <a:xfrm flipH="false" flipV="false" rot="0">
              <a:off x="0" y="0"/>
              <a:ext cx="807885" cy="448566"/>
            </a:xfrm>
            <a:custGeom>
              <a:avLst/>
              <a:gdLst/>
              <a:ahLst/>
              <a:cxnLst/>
              <a:rect r="r" b="b" t="t" l="l"/>
              <a:pathLst>
                <a:path h="448566" w="807885">
                  <a:moveTo>
                    <a:pt x="34147" y="0"/>
                  </a:moveTo>
                  <a:lnTo>
                    <a:pt x="773738" y="0"/>
                  </a:lnTo>
                  <a:cubicBezTo>
                    <a:pt x="782795" y="0"/>
                    <a:pt x="791480" y="3598"/>
                    <a:pt x="797884" y="10001"/>
                  </a:cubicBezTo>
                  <a:cubicBezTo>
                    <a:pt x="804288" y="16405"/>
                    <a:pt x="807885" y="25091"/>
                    <a:pt x="807885" y="34147"/>
                  </a:cubicBezTo>
                  <a:lnTo>
                    <a:pt x="807885" y="414419"/>
                  </a:lnTo>
                  <a:cubicBezTo>
                    <a:pt x="807885" y="433278"/>
                    <a:pt x="792597" y="448566"/>
                    <a:pt x="773738" y="448566"/>
                  </a:cubicBezTo>
                  <a:lnTo>
                    <a:pt x="34147" y="448566"/>
                  </a:lnTo>
                  <a:cubicBezTo>
                    <a:pt x="15288" y="448566"/>
                    <a:pt x="0" y="433278"/>
                    <a:pt x="0" y="414419"/>
                  </a:cubicBezTo>
                  <a:lnTo>
                    <a:pt x="0" y="34147"/>
                  </a:lnTo>
                  <a:cubicBezTo>
                    <a:pt x="0" y="15288"/>
                    <a:pt x="15288" y="0"/>
                    <a:pt x="34147" y="0"/>
                  </a:cubicBezTo>
                  <a:close/>
                </a:path>
              </a:pathLst>
            </a:custGeom>
            <a:blipFill>
              <a:blip r:embed="rId5"/>
              <a:stretch>
                <a:fillRect l="0" t="-2286" r="0" b="-2286"/>
              </a:stretch>
            </a:blipFill>
            <a:ln w="28575" cap="rnd">
              <a:solidFill>
                <a:srgbClr val="FFA800"/>
              </a:solidFill>
              <a:prstDash val="solid"/>
              <a:round/>
            </a:ln>
          </p:spPr>
        </p:sp>
      </p:grpSp>
      <p:grpSp>
        <p:nvGrpSpPr>
          <p:cNvPr name="Group 8" id="8"/>
          <p:cNvGrpSpPr/>
          <p:nvPr/>
        </p:nvGrpSpPr>
        <p:grpSpPr>
          <a:xfrm rot="0">
            <a:off x="12973363" y="2389690"/>
            <a:ext cx="5127812" cy="5544557"/>
            <a:chOff x="0" y="0"/>
            <a:chExt cx="794432" cy="858997"/>
          </a:xfrm>
        </p:grpSpPr>
        <p:sp>
          <p:nvSpPr>
            <p:cNvPr name="Freeform 9" id="9"/>
            <p:cNvSpPr/>
            <p:nvPr/>
          </p:nvSpPr>
          <p:spPr>
            <a:xfrm flipH="false" flipV="false" rot="0">
              <a:off x="0" y="0"/>
              <a:ext cx="794432" cy="858997"/>
            </a:xfrm>
            <a:custGeom>
              <a:avLst/>
              <a:gdLst/>
              <a:ahLst/>
              <a:cxnLst/>
              <a:rect r="r" b="b" t="t" l="l"/>
              <a:pathLst>
                <a:path h="858997" w="794432">
                  <a:moveTo>
                    <a:pt x="0" y="0"/>
                  </a:moveTo>
                  <a:lnTo>
                    <a:pt x="794432" y="0"/>
                  </a:lnTo>
                  <a:lnTo>
                    <a:pt x="794432" y="858997"/>
                  </a:lnTo>
                  <a:lnTo>
                    <a:pt x="0" y="858997"/>
                  </a:lnTo>
                  <a:close/>
                </a:path>
              </a:pathLst>
            </a:custGeom>
            <a:blipFill>
              <a:blip r:embed="rId6"/>
              <a:stretch>
                <a:fillRect l="0" t="-148" r="0" b="-148"/>
              </a:stretch>
            </a:blipFill>
            <a:ln w="28575" cap="sq">
              <a:solidFill>
                <a:srgbClr val="FFA800"/>
              </a:solidFill>
              <a:prstDash val="solid"/>
              <a:miter/>
            </a:ln>
          </p:spPr>
        </p:sp>
      </p:grpSp>
      <p:sp>
        <p:nvSpPr>
          <p:cNvPr name="Freeform 10" id="10"/>
          <p:cNvSpPr/>
          <p:nvPr/>
        </p:nvSpPr>
        <p:spPr>
          <a:xfrm flipH="true" flipV="false" rot="0">
            <a:off x="2269177" y="4780932"/>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0">
            <a:off x="2269177" y="5507804"/>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3026214" y="5825101"/>
            <a:ext cx="4006628" cy="758749"/>
          </a:xfrm>
          <a:prstGeom prst="rect">
            <a:avLst/>
          </a:prstGeom>
        </p:spPr>
        <p:txBody>
          <a:bodyPr anchor="t" rtlCol="false" tIns="0" lIns="0" bIns="0" rIns="0">
            <a:spAutoFit/>
          </a:bodyPr>
          <a:lstStyle/>
          <a:p>
            <a:pPr algn="l">
              <a:lnSpc>
                <a:spcPts val="2800"/>
              </a:lnSpc>
            </a:pPr>
            <a:r>
              <a:rPr lang="en-US" sz="2000">
                <a:solidFill>
                  <a:srgbClr val="FFA800"/>
                </a:solidFill>
                <a:latin typeface="Agrandir"/>
                <a:ea typeface="Agrandir"/>
                <a:cs typeface="Agrandir"/>
                <a:sym typeface="Agrandir"/>
              </a:rPr>
              <a:t>email id.:- testcgs123@gmail.com</a:t>
            </a:r>
          </a:p>
          <a:p>
            <a:pPr algn="l">
              <a:lnSpc>
                <a:spcPts val="2800"/>
              </a:lnSpc>
              <a:spcBef>
                <a:spcPct val="0"/>
              </a:spcBef>
            </a:pPr>
            <a:r>
              <a:rPr lang="en-US" sz="2000">
                <a:solidFill>
                  <a:srgbClr val="FFA800"/>
                </a:solidFill>
                <a:latin typeface="Agrandir"/>
                <a:ea typeface="Agrandir"/>
                <a:cs typeface="Agrandir"/>
                <a:sym typeface="Agrandir"/>
              </a:rPr>
              <a:t>pass.:- Test@123456789</a:t>
            </a:r>
          </a:p>
        </p:txBody>
      </p:sp>
      <p:sp>
        <p:nvSpPr>
          <p:cNvPr name="Freeform 13" id="13"/>
          <p:cNvSpPr/>
          <p:nvPr/>
        </p:nvSpPr>
        <p:spPr>
          <a:xfrm flipH="true" flipV="false" rot="0">
            <a:off x="6410242" y="6486569"/>
            <a:ext cx="1663077" cy="1672198"/>
          </a:xfrm>
          <a:custGeom>
            <a:avLst/>
            <a:gdLst/>
            <a:ahLst/>
            <a:cxnLst/>
            <a:rect r="r" b="b" t="t" l="l"/>
            <a:pathLst>
              <a:path h="1672198" w="1663077">
                <a:moveTo>
                  <a:pt x="1663077" y="0"/>
                </a:moveTo>
                <a:lnTo>
                  <a:pt x="0" y="0"/>
                </a:lnTo>
                <a:lnTo>
                  <a:pt x="0" y="1672198"/>
                </a:lnTo>
                <a:lnTo>
                  <a:pt x="1663077" y="1672198"/>
                </a:lnTo>
                <a:lnTo>
                  <a:pt x="1663077" y="0"/>
                </a:lnTo>
                <a:close/>
              </a:path>
            </a:pathLst>
          </a:custGeom>
          <a:blipFill>
            <a:blip r:embed="rId3">
              <a:alphaModFix amt="80000"/>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false" rot="0">
            <a:off x="7736378" y="6541598"/>
            <a:ext cx="1663077" cy="1672198"/>
          </a:xfrm>
          <a:custGeom>
            <a:avLst/>
            <a:gdLst/>
            <a:ahLst/>
            <a:cxnLst/>
            <a:rect r="r" b="b" t="t" l="l"/>
            <a:pathLst>
              <a:path h="1672198" w="1663077">
                <a:moveTo>
                  <a:pt x="1663077" y="0"/>
                </a:moveTo>
                <a:lnTo>
                  <a:pt x="0" y="0"/>
                </a:lnTo>
                <a:lnTo>
                  <a:pt x="0" y="1672198"/>
                </a:lnTo>
                <a:lnTo>
                  <a:pt x="1663077" y="1672198"/>
                </a:lnTo>
                <a:lnTo>
                  <a:pt x="1663077" y="0"/>
                </a:lnTo>
                <a:close/>
              </a:path>
            </a:pathLst>
          </a:custGeom>
          <a:blipFill>
            <a:blip r:embed="rId3">
              <a:alphaModFix amt="80000"/>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3026214" y="4732090"/>
            <a:ext cx="4215566" cy="406362"/>
          </a:xfrm>
          <a:prstGeom prst="rect">
            <a:avLst/>
          </a:prstGeom>
        </p:spPr>
        <p:txBody>
          <a:bodyPr anchor="t" rtlCol="false" tIns="0" lIns="0" bIns="0" rIns="0">
            <a:spAutoFit/>
          </a:bodyPr>
          <a:lstStyle/>
          <a:p>
            <a:pPr algn="l">
              <a:lnSpc>
                <a:spcPts val="2800"/>
              </a:lnSpc>
              <a:spcBef>
                <a:spcPct val="0"/>
              </a:spcBef>
            </a:pPr>
            <a:r>
              <a:rPr lang="en-US" sz="2000">
                <a:solidFill>
                  <a:srgbClr val="FFA800"/>
                </a:solidFill>
                <a:latin typeface="Agrandir"/>
                <a:ea typeface="Agrandir"/>
                <a:cs typeface="Agrandir"/>
                <a:sym typeface="Agrandir"/>
              </a:rPr>
              <a:t>Runs on PythonAnywhere paid</a:t>
            </a:r>
          </a:p>
        </p:txBody>
      </p:sp>
      <p:sp>
        <p:nvSpPr>
          <p:cNvPr name="TextBox 16" id="16"/>
          <p:cNvSpPr txBox="true"/>
          <p:nvPr/>
        </p:nvSpPr>
        <p:spPr>
          <a:xfrm rot="0">
            <a:off x="2269177" y="2390429"/>
            <a:ext cx="4656761"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ROAD</a:t>
            </a:r>
          </a:p>
        </p:txBody>
      </p:sp>
      <p:sp>
        <p:nvSpPr>
          <p:cNvPr name="TextBox 17" id="17"/>
          <p:cNvSpPr txBox="true"/>
          <p:nvPr/>
        </p:nvSpPr>
        <p:spPr>
          <a:xfrm rot="0">
            <a:off x="2269177" y="3153625"/>
            <a:ext cx="4277982"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1</a:t>
            </a:r>
          </a:p>
        </p:txBody>
      </p:sp>
      <p:sp>
        <p:nvSpPr>
          <p:cNvPr name="TextBox 18" id="18"/>
          <p:cNvSpPr txBox="true"/>
          <p:nvPr/>
        </p:nvSpPr>
        <p:spPr>
          <a:xfrm rot="0">
            <a:off x="7032842" y="2303965"/>
            <a:ext cx="5060328" cy="2554890"/>
          </a:xfrm>
          <a:prstGeom prst="rect">
            <a:avLst/>
          </a:prstGeom>
        </p:spPr>
        <p:txBody>
          <a:bodyPr anchor="t" rtlCol="false" tIns="0" lIns="0" bIns="0" rIns="0">
            <a:spAutoFit/>
          </a:bodyPr>
          <a:lstStyle/>
          <a:p>
            <a:pPr algn="just">
              <a:lnSpc>
                <a:spcPts val="2504"/>
              </a:lnSpc>
            </a:pPr>
            <a:r>
              <a:rPr lang="en-US" sz="1788">
                <a:solidFill>
                  <a:srgbClr val="FFFFFF"/>
                </a:solidFill>
                <a:latin typeface="Agrandir"/>
                <a:ea typeface="Agrandir"/>
                <a:cs typeface="Agrandir"/>
                <a:sym typeface="Agrandir"/>
              </a:rPr>
              <a:t>Since I was not having paid version on python anywhere so I could not test many times whether the code works on python anywhere or not.</a:t>
            </a:r>
          </a:p>
          <a:p>
            <a:pPr algn="just">
              <a:lnSpc>
                <a:spcPts val="2504"/>
              </a:lnSpc>
            </a:pPr>
            <a:r>
              <a:rPr lang="en-US" sz="1788">
                <a:solidFill>
                  <a:srgbClr val="AE280B"/>
                </a:solidFill>
                <a:latin typeface="Agrandir"/>
                <a:ea typeface="Agrandir"/>
                <a:cs typeface="Agrandir"/>
                <a:sym typeface="Agrandir"/>
              </a:rPr>
              <a:t>Problem</a:t>
            </a:r>
            <a:r>
              <a:rPr lang="en-US" sz="1788">
                <a:solidFill>
                  <a:srgbClr val="FFFFFF"/>
                </a:solidFill>
                <a:latin typeface="Agrandir"/>
                <a:ea typeface="Agrandir"/>
                <a:cs typeface="Agrandir"/>
                <a:sym typeface="Agrandir"/>
              </a:rPr>
              <a:t> : Python also uses UTC as reference so code was to be set for IST.</a:t>
            </a:r>
          </a:p>
          <a:p>
            <a:pPr algn="just">
              <a:lnSpc>
                <a:spcPts val="2504"/>
              </a:lnSpc>
            </a:pPr>
            <a:r>
              <a:rPr lang="en-US" sz="1788">
                <a:solidFill>
                  <a:srgbClr val="FFFFFF"/>
                </a:solidFill>
                <a:latin typeface="Agrandir"/>
                <a:ea typeface="Agrandir"/>
                <a:cs typeface="Agrandir"/>
                <a:sym typeface="Agrandir"/>
              </a:rPr>
              <a:t>so final script is like fig6</a:t>
            </a:r>
          </a:p>
          <a:p>
            <a:pPr algn="just">
              <a:lnSpc>
                <a:spcPts val="2504"/>
              </a:lnSpc>
              <a:spcBef>
                <a:spcPct val="0"/>
              </a:spcBef>
            </a:pPr>
          </a:p>
        </p:txBody>
      </p:sp>
      <p:sp>
        <p:nvSpPr>
          <p:cNvPr name="TextBox 19" id="19"/>
          <p:cNvSpPr txBox="true"/>
          <p:nvPr/>
        </p:nvSpPr>
        <p:spPr>
          <a:xfrm rot="0">
            <a:off x="3026214" y="5458962"/>
            <a:ext cx="4006628" cy="40636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Agrandir"/>
                <a:ea typeface="Agrandir"/>
                <a:cs typeface="Agrandir"/>
                <a:sym typeface="Agrandir"/>
              </a:rPr>
              <a:t>Login Details in pythonanywhere</a:t>
            </a:r>
          </a:p>
        </p:txBody>
      </p:sp>
      <p:sp>
        <p:nvSpPr>
          <p:cNvPr name="TextBox 20" id="20"/>
          <p:cNvSpPr txBox="true"/>
          <p:nvPr/>
        </p:nvSpPr>
        <p:spPr>
          <a:xfrm rot="0">
            <a:off x="15025790" y="8013062"/>
            <a:ext cx="1022957" cy="355597"/>
          </a:xfrm>
          <a:prstGeom prst="rect">
            <a:avLst/>
          </a:prstGeom>
        </p:spPr>
        <p:txBody>
          <a:bodyPr anchor="t" rtlCol="false" tIns="0" lIns="0" bIns="0" rIns="0">
            <a:spAutoFit/>
          </a:bodyPr>
          <a:lstStyle/>
          <a:p>
            <a:pPr algn="ctr">
              <a:lnSpc>
                <a:spcPts val="2843"/>
              </a:lnSpc>
            </a:pPr>
            <a:r>
              <a:rPr lang="en-US" sz="2030" b="true">
                <a:solidFill>
                  <a:srgbClr val="FFFFFF"/>
                </a:solidFill>
                <a:latin typeface="Canva Sans Bold"/>
                <a:ea typeface="Canva Sans Bold"/>
                <a:cs typeface="Canva Sans Bold"/>
                <a:sym typeface="Canva Sans Bold"/>
              </a:rPr>
              <a:t>fig. 1</a:t>
            </a:r>
          </a:p>
        </p:txBody>
      </p:sp>
      <p:sp>
        <p:nvSpPr>
          <p:cNvPr name="TextBox 21" id="21"/>
          <p:cNvSpPr txBox="true"/>
          <p:nvPr/>
        </p:nvSpPr>
        <p:spPr>
          <a:xfrm rot="0">
            <a:off x="14559632" y="8447474"/>
            <a:ext cx="2277542" cy="701597"/>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name of the file is </a:t>
            </a:r>
          </a:p>
          <a:p>
            <a:pPr algn="ctr">
              <a:lnSpc>
                <a:spcPts val="2800"/>
              </a:lnSpc>
            </a:pPr>
            <a:r>
              <a:rPr lang="en-US" sz="2000">
                <a:solidFill>
                  <a:srgbClr val="00BF63"/>
                </a:solidFill>
                <a:latin typeface="Canva Sans"/>
                <a:ea typeface="Canva Sans"/>
                <a:cs typeface="Canva Sans"/>
                <a:sym typeface="Canva Sans"/>
              </a:rPr>
              <a:t>reminderpyany.py</a:t>
            </a:r>
            <a:r>
              <a:rPr lang="en-US" sz="2000" b="true">
                <a:solidFill>
                  <a:srgbClr val="000000"/>
                </a:solidFill>
                <a:latin typeface="Canva Sans Bold"/>
                <a:ea typeface="Canva Sans Bold"/>
                <a:cs typeface="Canva Sans Bold"/>
                <a:sym typeface="Canva Sans Bold"/>
              </a:rPr>
              <a:t> </a:t>
            </a:r>
          </a:p>
        </p:txBody>
      </p:sp>
      <p:sp>
        <p:nvSpPr>
          <p:cNvPr name="TextBox 22" id="22"/>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08</a:t>
            </a:r>
          </a:p>
        </p:txBody>
      </p:sp>
      <p:sp>
        <p:nvSpPr>
          <p:cNvPr name="Freeform 23" id="23"/>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7"/>
            <a:stretch>
              <a:fillRect l="-10785" t="0" r="-10785"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1291956" y="1396779"/>
            <a:ext cx="5456503" cy="4304018"/>
            <a:chOff x="0" y="0"/>
            <a:chExt cx="1115052" cy="879538"/>
          </a:xfrm>
        </p:grpSpPr>
        <p:sp>
          <p:nvSpPr>
            <p:cNvPr name="Freeform 4" id="4"/>
            <p:cNvSpPr/>
            <p:nvPr/>
          </p:nvSpPr>
          <p:spPr>
            <a:xfrm flipH="false" flipV="false" rot="0">
              <a:off x="0" y="0"/>
              <a:ext cx="1115052" cy="879538"/>
            </a:xfrm>
            <a:custGeom>
              <a:avLst/>
              <a:gdLst/>
              <a:ahLst/>
              <a:cxnLst/>
              <a:rect r="r" b="b" t="t" l="l"/>
              <a:pathLst>
                <a:path h="879538" w="1115052">
                  <a:moveTo>
                    <a:pt x="32633" y="0"/>
                  </a:moveTo>
                  <a:lnTo>
                    <a:pt x="1082418" y="0"/>
                  </a:lnTo>
                  <a:cubicBezTo>
                    <a:pt x="1100441" y="0"/>
                    <a:pt x="1115052" y="14610"/>
                    <a:pt x="1115052" y="32633"/>
                  </a:cubicBezTo>
                  <a:lnTo>
                    <a:pt x="1115052" y="846905"/>
                  </a:lnTo>
                  <a:cubicBezTo>
                    <a:pt x="1115052" y="855560"/>
                    <a:pt x="1111614" y="863860"/>
                    <a:pt x="1105494" y="869980"/>
                  </a:cubicBezTo>
                  <a:cubicBezTo>
                    <a:pt x="1099374" y="876100"/>
                    <a:pt x="1091073" y="879538"/>
                    <a:pt x="1082418" y="879538"/>
                  </a:cubicBezTo>
                  <a:lnTo>
                    <a:pt x="32633" y="879538"/>
                  </a:lnTo>
                  <a:cubicBezTo>
                    <a:pt x="23978" y="879538"/>
                    <a:pt x="15678" y="876100"/>
                    <a:pt x="9558" y="869980"/>
                  </a:cubicBezTo>
                  <a:cubicBezTo>
                    <a:pt x="3438" y="863860"/>
                    <a:pt x="0" y="855560"/>
                    <a:pt x="0" y="846905"/>
                  </a:cubicBezTo>
                  <a:lnTo>
                    <a:pt x="0" y="32633"/>
                  </a:lnTo>
                  <a:cubicBezTo>
                    <a:pt x="0" y="23978"/>
                    <a:pt x="3438" y="15678"/>
                    <a:pt x="9558" y="9558"/>
                  </a:cubicBezTo>
                  <a:cubicBezTo>
                    <a:pt x="15678" y="3438"/>
                    <a:pt x="23978" y="0"/>
                    <a:pt x="32633" y="0"/>
                  </a:cubicBezTo>
                  <a:close/>
                </a:path>
              </a:pathLst>
            </a:custGeom>
            <a:blipFill>
              <a:blip r:embed="rId3"/>
              <a:stretch>
                <a:fillRect l="0" t="-12120" r="0" b="-12120"/>
              </a:stretch>
            </a:blipFill>
            <a:ln w="28575" cap="rnd">
              <a:solidFill>
                <a:srgbClr val="FFA800"/>
              </a:solidFill>
              <a:prstDash val="solid"/>
              <a:round/>
            </a:ln>
          </p:spPr>
        </p:sp>
      </p:grpSp>
      <p:grpSp>
        <p:nvGrpSpPr>
          <p:cNvPr name="Group 5" id="5"/>
          <p:cNvGrpSpPr/>
          <p:nvPr/>
        </p:nvGrpSpPr>
        <p:grpSpPr>
          <a:xfrm rot="0">
            <a:off x="1598546" y="4093637"/>
            <a:ext cx="8960014" cy="4968770"/>
            <a:chOff x="0" y="0"/>
            <a:chExt cx="1222589" cy="677986"/>
          </a:xfrm>
        </p:grpSpPr>
        <p:sp>
          <p:nvSpPr>
            <p:cNvPr name="Freeform 6" id="6"/>
            <p:cNvSpPr/>
            <p:nvPr/>
          </p:nvSpPr>
          <p:spPr>
            <a:xfrm flipH="false" flipV="false" rot="0">
              <a:off x="0" y="0"/>
              <a:ext cx="1222589" cy="677986"/>
            </a:xfrm>
            <a:custGeom>
              <a:avLst/>
              <a:gdLst/>
              <a:ahLst/>
              <a:cxnLst/>
              <a:rect r="r" b="b" t="t" l="l"/>
              <a:pathLst>
                <a:path h="677986" w="1222589">
                  <a:moveTo>
                    <a:pt x="19873" y="0"/>
                  </a:moveTo>
                  <a:lnTo>
                    <a:pt x="1202716" y="0"/>
                  </a:lnTo>
                  <a:cubicBezTo>
                    <a:pt x="1207987" y="0"/>
                    <a:pt x="1213042" y="2094"/>
                    <a:pt x="1216769" y="5821"/>
                  </a:cubicBezTo>
                  <a:cubicBezTo>
                    <a:pt x="1220496" y="9548"/>
                    <a:pt x="1222589" y="14603"/>
                    <a:pt x="1222589" y="19873"/>
                  </a:cubicBezTo>
                  <a:lnTo>
                    <a:pt x="1222589" y="658113"/>
                  </a:lnTo>
                  <a:cubicBezTo>
                    <a:pt x="1222589" y="663384"/>
                    <a:pt x="1220496" y="668438"/>
                    <a:pt x="1216769" y="672165"/>
                  </a:cubicBezTo>
                  <a:cubicBezTo>
                    <a:pt x="1213042" y="675892"/>
                    <a:pt x="1207987" y="677986"/>
                    <a:pt x="1202716" y="677986"/>
                  </a:cubicBezTo>
                  <a:lnTo>
                    <a:pt x="19873" y="677986"/>
                  </a:lnTo>
                  <a:cubicBezTo>
                    <a:pt x="14603" y="677986"/>
                    <a:pt x="9548" y="675892"/>
                    <a:pt x="5821" y="672165"/>
                  </a:cubicBezTo>
                  <a:cubicBezTo>
                    <a:pt x="2094" y="668438"/>
                    <a:pt x="0" y="663384"/>
                    <a:pt x="0" y="658113"/>
                  </a:cubicBezTo>
                  <a:lnTo>
                    <a:pt x="0" y="19873"/>
                  </a:lnTo>
                  <a:cubicBezTo>
                    <a:pt x="0" y="14603"/>
                    <a:pt x="2094" y="9548"/>
                    <a:pt x="5821" y="5821"/>
                  </a:cubicBezTo>
                  <a:cubicBezTo>
                    <a:pt x="9548" y="2094"/>
                    <a:pt x="14603" y="0"/>
                    <a:pt x="19873" y="0"/>
                  </a:cubicBezTo>
                  <a:close/>
                </a:path>
              </a:pathLst>
            </a:custGeom>
            <a:blipFill>
              <a:blip r:embed="rId4"/>
              <a:stretch>
                <a:fillRect l="0" t="-2351" r="0" b="-2351"/>
              </a:stretch>
            </a:blipFill>
            <a:ln w="28575" cap="rnd">
              <a:solidFill>
                <a:srgbClr val="FFA800"/>
              </a:solidFill>
              <a:prstDash val="solid"/>
              <a:round/>
            </a:ln>
          </p:spPr>
        </p:sp>
      </p:grpSp>
      <p:sp>
        <p:nvSpPr>
          <p:cNvPr name="TextBox 7" id="7"/>
          <p:cNvSpPr txBox="true"/>
          <p:nvPr/>
        </p:nvSpPr>
        <p:spPr>
          <a:xfrm rot="0">
            <a:off x="4148648" y="1438107"/>
            <a:ext cx="4656761"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Script</a:t>
            </a:r>
          </a:p>
        </p:txBody>
      </p:sp>
      <p:sp>
        <p:nvSpPr>
          <p:cNvPr name="TextBox 8" id="8"/>
          <p:cNvSpPr txBox="true"/>
          <p:nvPr/>
        </p:nvSpPr>
        <p:spPr>
          <a:xfrm rot="0">
            <a:off x="4148648" y="2201303"/>
            <a:ext cx="5229660"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Test</a:t>
            </a:r>
          </a:p>
        </p:txBody>
      </p:sp>
      <p:sp>
        <p:nvSpPr>
          <p:cNvPr name="TextBox 9" id="9"/>
          <p:cNvSpPr txBox="true"/>
          <p:nvPr/>
        </p:nvSpPr>
        <p:spPr>
          <a:xfrm rot="0">
            <a:off x="11291956" y="6102724"/>
            <a:ext cx="5847109" cy="1498337"/>
          </a:xfrm>
          <a:prstGeom prst="rect">
            <a:avLst/>
          </a:prstGeom>
        </p:spPr>
        <p:txBody>
          <a:bodyPr anchor="t" rtlCol="false" tIns="0" lIns="0" bIns="0" rIns="0">
            <a:spAutoFit/>
          </a:bodyPr>
          <a:lstStyle/>
          <a:p>
            <a:pPr algn="just">
              <a:lnSpc>
                <a:spcPts val="5673"/>
              </a:lnSpc>
              <a:spcBef>
                <a:spcPct val="0"/>
              </a:spcBef>
            </a:pPr>
            <a:r>
              <a:rPr lang="en-US" sz="4052">
                <a:solidFill>
                  <a:srgbClr val="FFFFFF"/>
                </a:solidFill>
                <a:latin typeface="Agrandir"/>
                <a:ea typeface="Agrandir"/>
                <a:cs typeface="Agrandir"/>
                <a:sym typeface="Agrandir"/>
              </a:rPr>
              <a:t>It works 100% but not everytime</a:t>
            </a:r>
          </a:p>
        </p:txBody>
      </p:sp>
      <p:sp>
        <p:nvSpPr>
          <p:cNvPr name="TextBox 10" id="10"/>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09</a:t>
            </a:r>
          </a:p>
        </p:txBody>
      </p:sp>
      <p:sp>
        <p:nvSpPr>
          <p:cNvPr name="Freeform 11" id="11"/>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5"/>
            <a:stretch>
              <a:fillRect l="-10785" t="0" r="-10785" b="0"/>
            </a:stretch>
          </a:blipFill>
        </p:spPr>
      </p:sp>
      <p:sp>
        <p:nvSpPr>
          <p:cNvPr name="Freeform 12" id="12"/>
          <p:cNvSpPr/>
          <p:nvPr/>
        </p:nvSpPr>
        <p:spPr>
          <a:xfrm flipH="true" flipV="false" rot="0">
            <a:off x="-5233133" y="-65784"/>
            <a:ext cx="7248909" cy="7288666"/>
          </a:xfrm>
          <a:custGeom>
            <a:avLst/>
            <a:gdLst/>
            <a:ahLst/>
            <a:cxnLst/>
            <a:rect r="r" b="b" t="t" l="l"/>
            <a:pathLst>
              <a:path h="7288666" w="7248909">
                <a:moveTo>
                  <a:pt x="7248910" y="0"/>
                </a:moveTo>
                <a:lnTo>
                  <a:pt x="0" y="0"/>
                </a:lnTo>
                <a:lnTo>
                  <a:pt x="0" y="7288666"/>
                </a:lnTo>
                <a:lnTo>
                  <a:pt x="7248910" y="7288666"/>
                </a:lnTo>
                <a:lnTo>
                  <a:pt x="7248910" y="0"/>
                </a:lnTo>
                <a:close/>
              </a:path>
            </a:pathLst>
          </a:custGeom>
          <a:blipFill>
            <a:blip r:embed="rId6">
              <a:alphaModFix amt="34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true" flipV="false" rot="0">
            <a:off x="-1981240" y="6490392"/>
            <a:ext cx="4206902" cy="4229975"/>
          </a:xfrm>
          <a:custGeom>
            <a:avLst/>
            <a:gdLst/>
            <a:ahLst/>
            <a:cxnLst/>
            <a:rect r="r" b="b" t="t" l="l"/>
            <a:pathLst>
              <a:path h="4229975" w="4206902">
                <a:moveTo>
                  <a:pt x="4206902" y="0"/>
                </a:moveTo>
                <a:lnTo>
                  <a:pt x="0" y="0"/>
                </a:lnTo>
                <a:lnTo>
                  <a:pt x="0" y="4229975"/>
                </a:lnTo>
                <a:lnTo>
                  <a:pt x="4206902" y="4229975"/>
                </a:lnTo>
                <a:lnTo>
                  <a:pt x="4206902" y="0"/>
                </a:lnTo>
                <a:close/>
              </a:path>
            </a:pathLst>
          </a:custGeom>
          <a:blipFill>
            <a:blip r:embed="rId6">
              <a:alphaModFix amt="34000"/>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6">
              <a:alphaModFix amt="34000"/>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5233133" y="-65784"/>
            <a:ext cx="7248909" cy="7288666"/>
          </a:xfrm>
          <a:custGeom>
            <a:avLst/>
            <a:gdLst/>
            <a:ahLst/>
            <a:cxnLst/>
            <a:rect r="r" b="b" t="t" l="l"/>
            <a:pathLst>
              <a:path h="7288666" w="7248909">
                <a:moveTo>
                  <a:pt x="7248910" y="0"/>
                </a:moveTo>
                <a:lnTo>
                  <a:pt x="0" y="0"/>
                </a:lnTo>
                <a:lnTo>
                  <a:pt x="0" y="7288666"/>
                </a:lnTo>
                <a:lnTo>
                  <a:pt x="7248910" y="7288666"/>
                </a:lnTo>
                <a:lnTo>
                  <a:pt x="7248910"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835034" y="2567255"/>
            <a:ext cx="5737222" cy="861475"/>
          </a:xfrm>
          <a:prstGeom prst="rect">
            <a:avLst/>
          </a:prstGeom>
        </p:spPr>
        <p:txBody>
          <a:bodyPr anchor="t" rtlCol="false" tIns="0" lIns="0" bIns="0" rIns="0">
            <a:spAutoFit/>
          </a:bodyPr>
          <a:lstStyle/>
          <a:p>
            <a:pPr algn="l">
              <a:lnSpc>
                <a:spcPts val="6069"/>
              </a:lnSpc>
              <a:spcBef>
                <a:spcPct val="0"/>
              </a:spcBef>
            </a:pPr>
            <a:r>
              <a:rPr lang="en-US" sz="4335" b="true">
                <a:solidFill>
                  <a:srgbClr val="FFA800"/>
                </a:solidFill>
                <a:latin typeface="Agrandir Bold"/>
                <a:ea typeface="Agrandir Bold"/>
                <a:cs typeface="Agrandir Bold"/>
                <a:sym typeface="Agrandir Bold"/>
              </a:rPr>
              <a:t>PythonAnywhere</a:t>
            </a:r>
          </a:p>
        </p:txBody>
      </p:sp>
      <p:sp>
        <p:nvSpPr>
          <p:cNvPr name="TextBox 6" id="6"/>
          <p:cNvSpPr txBox="true"/>
          <p:nvPr/>
        </p:nvSpPr>
        <p:spPr>
          <a:xfrm rot="0">
            <a:off x="4309466" y="2567255"/>
            <a:ext cx="3771125" cy="861475"/>
          </a:xfrm>
          <a:prstGeom prst="rect">
            <a:avLst/>
          </a:prstGeom>
        </p:spPr>
        <p:txBody>
          <a:bodyPr anchor="t" rtlCol="false" tIns="0" lIns="0" bIns="0" rIns="0">
            <a:spAutoFit/>
          </a:bodyPr>
          <a:lstStyle/>
          <a:p>
            <a:pPr algn="l">
              <a:lnSpc>
                <a:spcPts val="6069"/>
              </a:lnSpc>
              <a:spcBef>
                <a:spcPct val="0"/>
              </a:spcBef>
            </a:pPr>
            <a:r>
              <a:rPr lang="en-US" sz="4335">
                <a:solidFill>
                  <a:srgbClr val="FFFFFF"/>
                </a:solidFill>
                <a:latin typeface="Agrandir"/>
                <a:ea typeface="Agrandir"/>
                <a:cs typeface="Agrandir"/>
                <a:sym typeface="Agrandir"/>
              </a:rPr>
              <a:t>Problem with </a:t>
            </a:r>
          </a:p>
        </p:txBody>
      </p:sp>
      <p:sp>
        <p:nvSpPr>
          <p:cNvPr name="TextBox 7" id="7"/>
          <p:cNvSpPr txBox="true"/>
          <p:nvPr/>
        </p:nvSpPr>
        <p:spPr>
          <a:xfrm rot="0">
            <a:off x="2772814" y="4879744"/>
            <a:ext cx="7249042" cy="2600610"/>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It is not completely free so many things we can’t do there even running the code there is also restricted so I was not able to do many test there</a:t>
            </a:r>
          </a:p>
          <a:p>
            <a:pPr algn="just">
              <a:lnSpc>
                <a:spcPts val="2084"/>
              </a:lnSpc>
              <a:spcBef>
                <a:spcPct val="0"/>
              </a:spcBef>
            </a:pPr>
            <a:r>
              <a:rPr lang="en-US" sz="1488">
                <a:solidFill>
                  <a:srgbClr val="FFFFFF"/>
                </a:solidFill>
                <a:latin typeface="Agrandir"/>
                <a:ea typeface="Agrandir"/>
                <a:cs typeface="Agrandir"/>
                <a:sym typeface="Agrandir"/>
              </a:rPr>
              <a:t>our original script checked for an exact time match (cls["time"] == current_time) for each class individually — Physics at 07:45, Chemistry at 08:45, and so on — assuming the script would run every few minutes to catch each one. But PythonAnywhere's free tier only allows a scheduled task to run once per day, not every few minutes (that frequent scheduling is a paid-only feature there). So in our case, even with a task set up, we’ll only ever catch one class on a day when the single daily run happened to land on an exact class time — every other class that day would get no email at all.</a:t>
            </a:r>
          </a:p>
        </p:txBody>
      </p:sp>
      <p:sp>
        <p:nvSpPr>
          <p:cNvPr name="Freeform 8" id="8"/>
          <p:cNvSpPr/>
          <p:nvPr/>
        </p:nvSpPr>
        <p:spPr>
          <a:xfrm flipH="true" flipV="false" rot="0">
            <a:off x="-1981240" y="6490392"/>
            <a:ext cx="4206902" cy="4229975"/>
          </a:xfrm>
          <a:custGeom>
            <a:avLst/>
            <a:gdLst/>
            <a:ahLst/>
            <a:cxnLst/>
            <a:rect r="r" b="b" t="t" l="l"/>
            <a:pathLst>
              <a:path h="4229975" w="4206902">
                <a:moveTo>
                  <a:pt x="4206902" y="0"/>
                </a:moveTo>
                <a:lnTo>
                  <a:pt x="0" y="0"/>
                </a:lnTo>
                <a:lnTo>
                  <a:pt x="0" y="4229975"/>
                </a:lnTo>
                <a:lnTo>
                  <a:pt x="4206902" y="4229975"/>
                </a:lnTo>
                <a:lnTo>
                  <a:pt x="420690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2015777" y="4349067"/>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2772814" y="4297539"/>
            <a:ext cx="3367158"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Paid</a:t>
            </a:r>
          </a:p>
        </p:txBody>
      </p:sp>
      <p:sp>
        <p:nvSpPr>
          <p:cNvPr name="TextBox 11" id="11"/>
          <p:cNvSpPr txBox="true"/>
          <p:nvPr/>
        </p:nvSpPr>
        <p:spPr>
          <a:xfrm rot="0">
            <a:off x="11486341" y="4879744"/>
            <a:ext cx="3890159" cy="2343435"/>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Restructure the script so it doesn't wait for each class's exact moment. Instead, once a day (e.g. early morning), it loops through all of that day's classes and sends one email listing the entire day's timetable — times, subjects, and rooms together. That is the only solution to work with python anywhere ,which is ROAD 2 — </a:t>
            </a:r>
          </a:p>
          <a:p>
            <a:pPr algn="just">
              <a:lnSpc>
                <a:spcPts val="2084"/>
              </a:lnSpc>
              <a:spcBef>
                <a:spcPct val="0"/>
              </a:spcBef>
            </a:pPr>
          </a:p>
        </p:txBody>
      </p:sp>
      <p:sp>
        <p:nvSpPr>
          <p:cNvPr name="Freeform 12" id="12"/>
          <p:cNvSpPr/>
          <p:nvPr/>
        </p:nvSpPr>
        <p:spPr>
          <a:xfrm flipH="true" flipV="false" rot="0">
            <a:off x="11066571" y="4390264"/>
            <a:ext cx="419770" cy="422072"/>
          </a:xfrm>
          <a:custGeom>
            <a:avLst/>
            <a:gdLst/>
            <a:ahLst/>
            <a:cxnLst/>
            <a:rect r="r" b="b" t="t" l="l"/>
            <a:pathLst>
              <a:path h="422072" w="419770">
                <a:moveTo>
                  <a:pt x="419770" y="0"/>
                </a:moveTo>
                <a:lnTo>
                  <a:pt x="0" y="0"/>
                </a:lnTo>
                <a:lnTo>
                  <a:pt x="0" y="422073"/>
                </a:lnTo>
                <a:lnTo>
                  <a:pt x="419770" y="422073"/>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1642340" y="4331681"/>
            <a:ext cx="3367158"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solution</a:t>
            </a:r>
          </a:p>
        </p:txBody>
      </p:sp>
      <p:sp>
        <p:nvSpPr>
          <p:cNvPr name="Freeform 14" id="14"/>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5"/>
            <a:stretch>
              <a:fillRect l="-10785" t="0" r="-10785" b="0"/>
            </a:stretch>
          </a:blipFill>
        </p:spPr>
      </p:sp>
      <p:sp>
        <p:nvSpPr>
          <p:cNvPr name="TextBox 15" id="15"/>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2947430" y="-351351"/>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3570029" y="5143500"/>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1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9785014" y="-103783"/>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177690" y="5038892"/>
            <a:ext cx="5214647" cy="2895354"/>
            <a:chOff x="0" y="0"/>
            <a:chExt cx="807885" cy="448566"/>
          </a:xfrm>
        </p:grpSpPr>
        <p:sp>
          <p:nvSpPr>
            <p:cNvPr name="Freeform 7" id="7"/>
            <p:cNvSpPr/>
            <p:nvPr/>
          </p:nvSpPr>
          <p:spPr>
            <a:xfrm flipH="false" flipV="false" rot="0">
              <a:off x="0" y="0"/>
              <a:ext cx="807885" cy="448566"/>
            </a:xfrm>
            <a:custGeom>
              <a:avLst/>
              <a:gdLst/>
              <a:ahLst/>
              <a:cxnLst/>
              <a:rect r="r" b="b" t="t" l="l"/>
              <a:pathLst>
                <a:path h="448566" w="807885">
                  <a:moveTo>
                    <a:pt x="34147" y="0"/>
                  </a:moveTo>
                  <a:lnTo>
                    <a:pt x="773738" y="0"/>
                  </a:lnTo>
                  <a:cubicBezTo>
                    <a:pt x="782795" y="0"/>
                    <a:pt x="791480" y="3598"/>
                    <a:pt x="797884" y="10001"/>
                  </a:cubicBezTo>
                  <a:cubicBezTo>
                    <a:pt x="804288" y="16405"/>
                    <a:pt x="807885" y="25091"/>
                    <a:pt x="807885" y="34147"/>
                  </a:cubicBezTo>
                  <a:lnTo>
                    <a:pt x="807885" y="414419"/>
                  </a:lnTo>
                  <a:cubicBezTo>
                    <a:pt x="807885" y="433278"/>
                    <a:pt x="792597" y="448566"/>
                    <a:pt x="773738" y="448566"/>
                  </a:cubicBezTo>
                  <a:lnTo>
                    <a:pt x="34147" y="448566"/>
                  </a:lnTo>
                  <a:cubicBezTo>
                    <a:pt x="15288" y="448566"/>
                    <a:pt x="0" y="433278"/>
                    <a:pt x="0" y="414419"/>
                  </a:cubicBezTo>
                  <a:lnTo>
                    <a:pt x="0" y="34147"/>
                  </a:lnTo>
                  <a:cubicBezTo>
                    <a:pt x="0" y="15288"/>
                    <a:pt x="15288" y="0"/>
                    <a:pt x="34147" y="0"/>
                  </a:cubicBezTo>
                  <a:close/>
                </a:path>
              </a:pathLst>
            </a:custGeom>
            <a:blipFill>
              <a:blip r:embed="rId5"/>
              <a:stretch>
                <a:fillRect l="0" t="-2286" r="0" b="-2286"/>
              </a:stretch>
            </a:blipFill>
            <a:ln w="28575" cap="rnd">
              <a:solidFill>
                <a:srgbClr val="FFA800"/>
              </a:solidFill>
              <a:prstDash val="solid"/>
              <a:round/>
            </a:ln>
          </p:spPr>
        </p:sp>
      </p:grpSp>
      <p:grpSp>
        <p:nvGrpSpPr>
          <p:cNvPr name="Group 8" id="8"/>
          <p:cNvGrpSpPr/>
          <p:nvPr/>
        </p:nvGrpSpPr>
        <p:grpSpPr>
          <a:xfrm rot="0">
            <a:off x="12725713" y="2366173"/>
            <a:ext cx="4995487" cy="5544557"/>
            <a:chOff x="0" y="0"/>
            <a:chExt cx="773932" cy="858997"/>
          </a:xfrm>
        </p:grpSpPr>
        <p:sp>
          <p:nvSpPr>
            <p:cNvPr name="Freeform 9" id="9"/>
            <p:cNvSpPr/>
            <p:nvPr/>
          </p:nvSpPr>
          <p:spPr>
            <a:xfrm flipH="false" flipV="false" rot="0">
              <a:off x="0" y="0"/>
              <a:ext cx="773932" cy="858997"/>
            </a:xfrm>
            <a:custGeom>
              <a:avLst/>
              <a:gdLst/>
              <a:ahLst/>
              <a:cxnLst/>
              <a:rect r="r" b="b" t="t" l="l"/>
              <a:pathLst>
                <a:path h="858997" w="773932">
                  <a:moveTo>
                    <a:pt x="35645" y="0"/>
                  </a:moveTo>
                  <a:lnTo>
                    <a:pt x="738287" y="0"/>
                  </a:lnTo>
                  <a:cubicBezTo>
                    <a:pt x="757973" y="0"/>
                    <a:pt x="773932" y="15959"/>
                    <a:pt x="773932" y="35645"/>
                  </a:cubicBezTo>
                  <a:lnTo>
                    <a:pt x="773932" y="823352"/>
                  </a:lnTo>
                  <a:cubicBezTo>
                    <a:pt x="773932" y="843038"/>
                    <a:pt x="757973" y="858997"/>
                    <a:pt x="738287" y="858997"/>
                  </a:cubicBezTo>
                  <a:lnTo>
                    <a:pt x="35645" y="858997"/>
                  </a:lnTo>
                  <a:cubicBezTo>
                    <a:pt x="15959" y="858997"/>
                    <a:pt x="0" y="843038"/>
                    <a:pt x="0" y="823352"/>
                  </a:cubicBezTo>
                  <a:lnTo>
                    <a:pt x="0" y="35645"/>
                  </a:lnTo>
                  <a:cubicBezTo>
                    <a:pt x="0" y="15959"/>
                    <a:pt x="15959" y="0"/>
                    <a:pt x="35645" y="0"/>
                  </a:cubicBezTo>
                  <a:close/>
                </a:path>
              </a:pathLst>
            </a:custGeom>
            <a:blipFill>
              <a:blip r:embed="rId6"/>
              <a:stretch>
                <a:fillRect l="-2641" t="0" r="-2641" b="0"/>
              </a:stretch>
            </a:blipFill>
            <a:ln w="28575" cap="rnd">
              <a:solidFill>
                <a:srgbClr val="FFA800"/>
              </a:solidFill>
              <a:prstDash val="solid"/>
              <a:round/>
            </a:ln>
          </p:spPr>
        </p:sp>
      </p:grpSp>
      <p:sp>
        <p:nvSpPr>
          <p:cNvPr name="Freeform 10" id="10"/>
          <p:cNvSpPr/>
          <p:nvPr/>
        </p:nvSpPr>
        <p:spPr>
          <a:xfrm flipH="true" flipV="false" rot="0">
            <a:off x="2269177" y="4780932"/>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0">
            <a:off x="6410242" y="6486569"/>
            <a:ext cx="1663077" cy="1672198"/>
          </a:xfrm>
          <a:custGeom>
            <a:avLst/>
            <a:gdLst/>
            <a:ahLst/>
            <a:cxnLst/>
            <a:rect r="r" b="b" t="t" l="l"/>
            <a:pathLst>
              <a:path h="1672198" w="1663077">
                <a:moveTo>
                  <a:pt x="1663077" y="0"/>
                </a:moveTo>
                <a:lnTo>
                  <a:pt x="0" y="0"/>
                </a:lnTo>
                <a:lnTo>
                  <a:pt x="0" y="1672198"/>
                </a:lnTo>
                <a:lnTo>
                  <a:pt x="1663077" y="1672198"/>
                </a:lnTo>
                <a:lnTo>
                  <a:pt x="1663077" y="0"/>
                </a:lnTo>
                <a:close/>
              </a:path>
            </a:pathLst>
          </a:custGeom>
          <a:blipFill>
            <a:blip r:embed="rId3">
              <a:alphaModFix amt="80000"/>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true" flipV="false" rot="0">
            <a:off x="7736378" y="6541598"/>
            <a:ext cx="1663077" cy="1672198"/>
          </a:xfrm>
          <a:custGeom>
            <a:avLst/>
            <a:gdLst/>
            <a:ahLst/>
            <a:cxnLst/>
            <a:rect r="r" b="b" t="t" l="l"/>
            <a:pathLst>
              <a:path h="1672198" w="1663077">
                <a:moveTo>
                  <a:pt x="1663077" y="0"/>
                </a:moveTo>
                <a:lnTo>
                  <a:pt x="0" y="0"/>
                </a:lnTo>
                <a:lnTo>
                  <a:pt x="0" y="1672198"/>
                </a:lnTo>
                <a:lnTo>
                  <a:pt x="1663077" y="1672198"/>
                </a:lnTo>
                <a:lnTo>
                  <a:pt x="1663077" y="0"/>
                </a:lnTo>
                <a:close/>
              </a:path>
            </a:pathLst>
          </a:custGeom>
          <a:blipFill>
            <a:blip r:embed="rId3">
              <a:alphaModFix amt="80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true" flipV="false" rot="0">
            <a:off x="2269177" y="5595652"/>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2269177" y="2390429"/>
            <a:ext cx="4656761"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ROAD</a:t>
            </a:r>
          </a:p>
        </p:txBody>
      </p:sp>
      <p:sp>
        <p:nvSpPr>
          <p:cNvPr name="TextBox 15" id="15"/>
          <p:cNvSpPr txBox="true"/>
          <p:nvPr/>
        </p:nvSpPr>
        <p:spPr>
          <a:xfrm rot="0">
            <a:off x="2269177" y="3153625"/>
            <a:ext cx="4277982"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2</a:t>
            </a:r>
          </a:p>
        </p:txBody>
      </p:sp>
      <p:sp>
        <p:nvSpPr>
          <p:cNvPr name="TextBox 16" id="16"/>
          <p:cNvSpPr txBox="true"/>
          <p:nvPr/>
        </p:nvSpPr>
        <p:spPr>
          <a:xfrm rot="0">
            <a:off x="7032842" y="2323015"/>
            <a:ext cx="5060328" cy="1571910"/>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This ROAD will send us the email in very simple way that is it will send the mail early morning 6AM and the email contains all the details of todays class.</a:t>
            </a:r>
          </a:p>
          <a:p>
            <a:pPr algn="just">
              <a:lnSpc>
                <a:spcPts val="2084"/>
              </a:lnSpc>
            </a:pPr>
            <a:r>
              <a:rPr lang="en-US" sz="1488">
                <a:solidFill>
                  <a:srgbClr val="FFFFFF"/>
                </a:solidFill>
                <a:latin typeface="Agrandir"/>
                <a:ea typeface="Agrandir"/>
                <a:cs typeface="Agrandir"/>
                <a:sym typeface="Agrandir"/>
              </a:rPr>
              <a:t>Reason for choosing this road are on pg no. 12</a:t>
            </a:r>
          </a:p>
          <a:p>
            <a:pPr algn="just">
              <a:lnSpc>
                <a:spcPts val="2084"/>
              </a:lnSpc>
              <a:spcBef>
                <a:spcPct val="0"/>
              </a:spcBef>
            </a:pPr>
            <a:r>
              <a:rPr lang="en-US" sz="1488">
                <a:solidFill>
                  <a:srgbClr val="FFFFFF"/>
                </a:solidFill>
                <a:latin typeface="Agrandir"/>
                <a:ea typeface="Agrandir"/>
                <a:cs typeface="Agrandir"/>
                <a:sym typeface="Agrandir"/>
              </a:rPr>
              <a:t>but truly speaking we can’t even work in this free mode also if you have paid then only it works properly........</a:t>
            </a:r>
          </a:p>
        </p:txBody>
      </p:sp>
      <p:sp>
        <p:nvSpPr>
          <p:cNvPr name="TextBox 17" id="17"/>
          <p:cNvSpPr txBox="true"/>
          <p:nvPr/>
        </p:nvSpPr>
        <p:spPr>
          <a:xfrm rot="0">
            <a:off x="3026214" y="4732090"/>
            <a:ext cx="4215566" cy="406362"/>
          </a:xfrm>
          <a:prstGeom prst="rect">
            <a:avLst/>
          </a:prstGeom>
        </p:spPr>
        <p:txBody>
          <a:bodyPr anchor="t" rtlCol="false" tIns="0" lIns="0" bIns="0" rIns="0">
            <a:spAutoFit/>
          </a:bodyPr>
          <a:lstStyle/>
          <a:p>
            <a:pPr algn="l">
              <a:lnSpc>
                <a:spcPts val="2800"/>
              </a:lnSpc>
              <a:spcBef>
                <a:spcPct val="0"/>
              </a:spcBef>
            </a:pPr>
            <a:r>
              <a:rPr lang="en-US" sz="2000">
                <a:solidFill>
                  <a:srgbClr val="FFA800"/>
                </a:solidFill>
                <a:latin typeface="Agrandir"/>
                <a:ea typeface="Agrandir"/>
                <a:cs typeface="Agrandir"/>
                <a:sym typeface="Agrandir"/>
              </a:rPr>
              <a:t>Runs on PythonAnywhere Free</a:t>
            </a:r>
          </a:p>
        </p:txBody>
      </p:sp>
      <p:sp>
        <p:nvSpPr>
          <p:cNvPr name="TextBox 18" id="18"/>
          <p:cNvSpPr txBox="true"/>
          <p:nvPr/>
        </p:nvSpPr>
        <p:spPr>
          <a:xfrm rot="0">
            <a:off x="2930005" y="6054808"/>
            <a:ext cx="4006628" cy="758749"/>
          </a:xfrm>
          <a:prstGeom prst="rect">
            <a:avLst/>
          </a:prstGeom>
        </p:spPr>
        <p:txBody>
          <a:bodyPr anchor="t" rtlCol="false" tIns="0" lIns="0" bIns="0" rIns="0">
            <a:spAutoFit/>
          </a:bodyPr>
          <a:lstStyle/>
          <a:p>
            <a:pPr algn="l">
              <a:lnSpc>
                <a:spcPts val="2800"/>
              </a:lnSpc>
            </a:pPr>
            <a:r>
              <a:rPr lang="en-US" sz="2000">
                <a:solidFill>
                  <a:srgbClr val="FFA800"/>
                </a:solidFill>
                <a:latin typeface="Agrandir"/>
                <a:ea typeface="Agrandir"/>
                <a:cs typeface="Agrandir"/>
                <a:sym typeface="Agrandir"/>
              </a:rPr>
              <a:t>email :- testcgs123@gmail.com</a:t>
            </a:r>
          </a:p>
          <a:p>
            <a:pPr algn="l">
              <a:lnSpc>
                <a:spcPts val="2800"/>
              </a:lnSpc>
              <a:spcBef>
                <a:spcPct val="0"/>
              </a:spcBef>
            </a:pPr>
            <a:r>
              <a:rPr lang="en-US" sz="2000">
                <a:solidFill>
                  <a:srgbClr val="FFA800"/>
                </a:solidFill>
                <a:latin typeface="Agrandir"/>
                <a:ea typeface="Agrandir"/>
                <a:cs typeface="Agrandir"/>
                <a:sym typeface="Agrandir"/>
              </a:rPr>
              <a:t>pass.:- Test@123456789</a:t>
            </a:r>
          </a:p>
        </p:txBody>
      </p:sp>
      <p:sp>
        <p:nvSpPr>
          <p:cNvPr name="TextBox 19" id="19"/>
          <p:cNvSpPr txBox="true"/>
          <p:nvPr/>
        </p:nvSpPr>
        <p:spPr>
          <a:xfrm rot="0">
            <a:off x="2930005" y="5611362"/>
            <a:ext cx="4006628" cy="40636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Agrandir"/>
                <a:ea typeface="Agrandir"/>
                <a:cs typeface="Agrandir"/>
                <a:sym typeface="Agrandir"/>
              </a:rPr>
              <a:t>Login Details in pythonanywhere</a:t>
            </a:r>
          </a:p>
        </p:txBody>
      </p:sp>
      <p:sp>
        <p:nvSpPr>
          <p:cNvPr name="TextBox 20" id="20"/>
          <p:cNvSpPr txBox="true"/>
          <p:nvPr/>
        </p:nvSpPr>
        <p:spPr>
          <a:xfrm rot="0">
            <a:off x="14697054" y="8067025"/>
            <a:ext cx="1052805" cy="338701"/>
          </a:xfrm>
          <a:prstGeom prst="rect">
            <a:avLst/>
          </a:prstGeom>
        </p:spPr>
        <p:txBody>
          <a:bodyPr anchor="t" rtlCol="false" tIns="0" lIns="0" bIns="0" rIns="0">
            <a:spAutoFit/>
          </a:bodyPr>
          <a:lstStyle/>
          <a:p>
            <a:pPr algn="ctr">
              <a:lnSpc>
                <a:spcPts val="2775"/>
              </a:lnSpc>
            </a:pPr>
            <a:r>
              <a:rPr lang="en-US" sz="1982" b="true">
                <a:solidFill>
                  <a:srgbClr val="FFFFFF"/>
                </a:solidFill>
                <a:latin typeface="Canva Sans Bold"/>
                <a:ea typeface="Canva Sans Bold"/>
                <a:cs typeface="Canva Sans Bold"/>
                <a:sym typeface="Canva Sans Bold"/>
              </a:rPr>
              <a:t>fig. 2</a:t>
            </a:r>
          </a:p>
        </p:txBody>
      </p:sp>
      <p:sp>
        <p:nvSpPr>
          <p:cNvPr name="TextBox 21" id="21"/>
          <p:cNvSpPr txBox="true"/>
          <p:nvPr/>
        </p:nvSpPr>
        <p:spPr>
          <a:xfrm rot="0">
            <a:off x="13684750" y="8552497"/>
            <a:ext cx="3077413" cy="701597"/>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name of the file is </a:t>
            </a:r>
          </a:p>
          <a:p>
            <a:pPr algn="ctr">
              <a:lnSpc>
                <a:spcPts val="2800"/>
              </a:lnSpc>
            </a:pPr>
            <a:r>
              <a:rPr lang="en-US" sz="2000">
                <a:solidFill>
                  <a:srgbClr val="00BF63"/>
                </a:solidFill>
                <a:latin typeface="Canva Sans"/>
                <a:ea typeface="Canva Sans"/>
                <a:cs typeface="Canva Sans"/>
                <a:sym typeface="Canva Sans"/>
              </a:rPr>
              <a:t>timetable_reminderpl.py</a:t>
            </a:r>
            <a:r>
              <a:rPr lang="en-US" sz="2000" b="true">
                <a:solidFill>
                  <a:srgbClr val="000000"/>
                </a:solidFill>
                <a:latin typeface="Canva Sans Bold"/>
                <a:ea typeface="Canva Sans Bold"/>
                <a:cs typeface="Canva Sans Bold"/>
                <a:sym typeface="Canva Sans Bold"/>
              </a:rPr>
              <a:t> </a:t>
            </a:r>
          </a:p>
        </p:txBody>
      </p:sp>
      <p:sp>
        <p:nvSpPr>
          <p:cNvPr name="TextBox 22" id="22"/>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11</a:t>
            </a:r>
          </a:p>
        </p:txBody>
      </p:sp>
      <p:sp>
        <p:nvSpPr>
          <p:cNvPr name="Freeform 23" id="23"/>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7"/>
            <a:stretch>
              <a:fillRect l="-10785" t="0" r="-10785"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3735184" y="-1776012"/>
            <a:ext cx="9980271" cy="10035008"/>
          </a:xfrm>
          <a:custGeom>
            <a:avLst/>
            <a:gdLst/>
            <a:ahLst/>
            <a:cxnLst/>
            <a:rect r="r" b="b" t="t" l="l"/>
            <a:pathLst>
              <a:path h="10035008" w="9980271">
                <a:moveTo>
                  <a:pt x="9980271" y="0"/>
                </a:moveTo>
                <a:lnTo>
                  <a:pt x="0" y="0"/>
                </a:lnTo>
                <a:lnTo>
                  <a:pt x="0" y="10035007"/>
                </a:lnTo>
                <a:lnTo>
                  <a:pt x="9980271" y="10035007"/>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3570029" y="5143500"/>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1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9587210" y="-103783"/>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028700" y="4913721"/>
            <a:ext cx="6714313" cy="3859775"/>
            <a:chOff x="0" y="0"/>
            <a:chExt cx="1152205" cy="662354"/>
          </a:xfrm>
        </p:grpSpPr>
        <p:sp>
          <p:nvSpPr>
            <p:cNvPr name="Freeform 7" id="7"/>
            <p:cNvSpPr/>
            <p:nvPr/>
          </p:nvSpPr>
          <p:spPr>
            <a:xfrm flipH="false" flipV="false" rot="0">
              <a:off x="0" y="0"/>
              <a:ext cx="1152205" cy="662354"/>
            </a:xfrm>
            <a:custGeom>
              <a:avLst/>
              <a:gdLst/>
              <a:ahLst/>
              <a:cxnLst/>
              <a:rect r="r" b="b" t="t" l="l"/>
              <a:pathLst>
                <a:path h="662354" w="1152205">
                  <a:moveTo>
                    <a:pt x="26520" y="0"/>
                  </a:moveTo>
                  <a:lnTo>
                    <a:pt x="1125685" y="0"/>
                  </a:lnTo>
                  <a:cubicBezTo>
                    <a:pt x="1132718" y="0"/>
                    <a:pt x="1139464" y="2794"/>
                    <a:pt x="1144437" y="7768"/>
                  </a:cubicBezTo>
                  <a:cubicBezTo>
                    <a:pt x="1149411" y="12741"/>
                    <a:pt x="1152205" y="19487"/>
                    <a:pt x="1152205" y="26520"/>
                  </a:cubicBezTo>
                  <a:lnTo>
                    <a:pt x="1152205" y="635834"/>
                  </a:lnTo>
                  <a:cubicBezTo>
                    <a:pt x="1152205" y="642867"/>
                    <a:pt x="1149411" y="649613"/>
                    <a:pt x="1144437" y="654586"/>
                  </a:cubicBezTo>
                  <a:cubicBezTo>
                    <a:pt x="1139464" y="659560"/>
                    <a:pt x="1132718" y="662354"/>
                    <a:pt x="1125685" y="662354"/>
                  </a:cubicBezTo>
                  <a:lnTo>
                    <a:pt x="26520" y="662354"/>
                  </a:lnTo>
                  <a:cubicBezTo>
                    <a:pt x="19487" y="662354"/>
                    <a:pt x="12741" y="659560"/>
                    <a:pt x="7768" y="654586"/>
                  </a:cubicBezTo>
                  <a:cubicBezTo>
                    <a:pt x="2794" y="649613"/>
                    <a:pt x="0" y="642867"/>
                    <a:pt x="0" y="635834"/>
                  </a:cubicBezTo>
                  <a:lnTo>
                    <a:pt x="0" y="26520"/>
                  </a:lnTo>
                  <a:cubicBezTo>
                    <a:pt x="0" y="19487"/>
                    <a:pt x="2794" y="12741"/>
                    <a:pt x="7768" y="7768"/>
                  </a:cubicBezTo>
                  <a:cubicBezTo>
                    <a:pt x="12741" y="2794"/>
                    <a:pt x="19487" y="0"/>
                    <a:pt x="26520" y="0"/>
                  </a:cubicBezTo>
                  <a:close/>
                </a:path>
              </a:pathLst>
            </a:custGeom>
            <a:blipFill>
              <a:blip r:embed="rId5"/>
              <a:stretch>
                <a:fillRect l="0" t="-501" r="0" b="-501"/>
              </a:stretch>
            </a:blipFill>
            <a:ln w="28575" cap="rnd">
              <a:solidFill>
                <a:srgbClr val="FFA800"/>
              </a:solidFill>
              <a:prstDash val="solid"/>
              <a:round/>
            </a:ln>
          </p:spPr>
        </p:sp>
      </p:grpSp>
      <p:sp>
        <p:nvSpPr>
          <p:cNvPr name="Freeform 8" id="8"/>
          <p:cNvSpPr/>
          <p:nvPr/>
        </p:nvSpPr>
        <p:spPr>
          <a:xfrm flipH="true" flipV="false" rot="0">
            <a:off x="7875407" y="4913721"/>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true" flipV="false" rot="0">
            <a:off x="7846146" y="5686481"/>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7846146" y="6461033"/>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3351367" y="3355336"/>
            <a:ext cx="4140197" cy="4251472"/>
          </a:xfrm>
          <a:custGeom>
            <a:avLst/>
            <a:gdLst/>
            <a:ahLst/>
            <a:cxnLst/>
            <a:rect r="r" b="b" t="t" l="l"/>
            <a:pathLst>
              <a:path h="4251472" w="4140197">
                <a:moveTo>
                  <a:pt x="0" y="0"/>
                </a:moveTo>
                <a:lnTo>
                  <a:pt x="4140197" y="0"/>
                </a:lnTo>
                <a:lnTo>
                  <a:pt x="4140197" y="4251472"/>
                </a:lnTo>
                <a:lnTo>
                  <a:pt x="0" y="4251472"/>
                </a:lnTo>
                <a:lnTo>
                  <a:pt x="0" y="0"/>
                </a:lnTo>
                <a:close/>
              </a:path>
            </a:pathLst>
          </a:custGeom>
          <a:blipFill>
            <a:blip r:embed="rId6"/>
            <a:stretch>
              <a:fillRect l="0" t="0" r="0" b="0"/>
            </a:stretch>
          </a:blipFill>
        </p:spPr>
      </p:sp>
      <p:sp>
        <p:nvSpPr>
          <p:cNvPr name="TextBox 12" id="12"/>
          <p:cNvSpPr txBox="true"/>
          <p:nvPr/>
        </p:nvSpPr>
        <p:spPr>
          <a:xfrm rot="0">
            <a:off x="1420106" y="2504274"/>
            <a:ext cx="4656761"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Problem</a:t>
            </a:r>
            <a:r>
              <a:rPr lang="en-US" sz="6935">
                <a:solidFill>
                  <a:srgbClr val="FFFFFF"/>
                </a:solidFill>
                <a:latin typeface="Agrandir"/>
                <a:ea typeface="Agrandir"/>
                <a:cs typeface="Agrandir"/>
                <a:sym typeface="Agrandir"/>
              </a:rPr>
              <a:t>s</a:t>
            </a:r>
          </a:p>
        </p:txBody>
      </p:sp>
      <p:sp>
        <p:nvSpPr>
          <p:cNvPr name="TextBox 13" id="13"/>
          <p:cNvSpPr txBox="true"/>
          <p:nvPr/>
        </p:nvSpPr>
        <p:spPr>
          <a:xfrm rot="0">
            <a:off x="1420106" y="3267470"/>
            <a:ext cx="4277982" cy="1378274"/>
          </a:xfrm>
          <a:prstGeom prst="rect">
            <a:avLst/>
          </a:prstGeom>
        </p:spPr>
        <p:txBody>
          <a:bodyPr anchor="t" rtlCol="false" tIns="0" lIns="0" bIns="0" rIns="0">
            <a:spAutoFit/>
          </a:bodyPr>
          <a:lstStyle/>
          <a:p>
            <a:pPr algn="l">
              <a:lnSpc>
                <a:spcPts val="9709"/>
              </a:lnSpc>
              <a:spcBef>
                <a:spcPct val="0"/>
              </a:spcBef>
            </a:pPr>
            <a:r>
              <a:rPr lang="en-US" sz="6935">
                <a:solidFill>
                  <a:srgbClr val="FFA800"/>
                </a:solidFill>
                <a:latin typeface="Agrandir"/>
                <a:ea typeface="Agrandir"/>
                <a:cs typeface="Agrandir"/>
                <a:sym typeface="Agrandir"/>
              </a:rPr>
              <a:t>occu</a:t>
            </a:r>
            <a:r>
              <a:rPr lang="en-US" sz="6935">
                <a:solidFill>
                  <a:srgbClr val="FFA800"/>
                </a:solidFill>
                <a:latin typeface="Agrandir"/>
                <a:ea typeface="Agrandir"/>
                <a:cs typeface="Agrandir"/>
                <a:sym typeface="Agrandir"/>
              </a:rPr>
              <a:t>rred </a:t>
            </a:r>
          </a:p>
        </p:txBody>
      </p:sp>
      <p:sp>
        <p:nvSpPr>
          <p:cNvPr name="TextBox 14" id="14"/>
          <p:cNvSpPr txBox="true"/>
          <p:nvPr/>
        </p:nvSpPr>
        <p:spPr>
          <a:xfrm rot="0">
            <a:off x="6728135" y="3174816"/>
            <a:ext cx="4743102" cy="1057560"/>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I the free account also we cant run our code </a:t>
            </a:r>
          </a:p>
          <a:p>
            <a:pPr algn="just">
              <a:lnSpc>
                <a:spcPts val="2084"/>
              </a:lnSpc>
            </a:pPr>
            <a:r>
              <a:rPr lang="en-US" sz="1488">
                <a:solidFill>
                  <a:srgbClr val="FFFFFF"/>
                </a:solidFill>
                <a:latin typeface="Agrandir"/>
                <a:ea typeface="Agrandir"/>
                <a:cs typeface="Agrandir"/>
                <a:sym typeface="Agrandir"/>
              </a:rPr>
              <a:t>“Scheduled tasks … are only enabled for paid accounts”</a:t>
            </a:r>
          </a:p>
          <a:p>
            <a:pPr algn="just">
              <a:lnSpc>
                <a:spcPts val="2084"/>
              </a:lnSpc>
              <a:spcBef>
                <a:spcPct val="0"/>
              </a:spcBef>
            </a:pPr>
            <a:r>
              <a:rPr lang="en-US" sz="1488">
                <a:solidFill>
                  <a:srgbClr val="FFFFFF"/>
                </a:solidFill>
                <a:latin typeface="Agrandir"/>
                <a:ea typeface="Agrandir"/>
                <a:cs typeface="Agrandir"/>
                <a:sym typeface="Agrandir"/>
              </a:rPr>
              <a:t>we can not run our code even daily.</a:t>
            </a:r>
          </a:p>
        </p:txBody>
      </p:sp>
      <p:sp>
        <p:nvSpPr>
          <p:cNvPr name="TextBox 15" id="15"/>
          <p:cNvSpPr txBox="true"/>
          <p:nvPr/>
        </p:nvSpPr>
        <p:spPr>
          <a:xfrm rot="0">
            <a:off x="8632444" y="4896390"/>
            <a:ext cx="4614148"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we can’t run time to time</a:t>
            </a:r>
          </a:p>
        </p:txBody>
      </p:sp>
      <p:sp>
        <p:nvSpPr>
          <p:cNvPr name="TextBox 16" id="16"/>
          <p:cNvSpPr txBox="true"/>
          <p:nvPr/>
        </p:nvSpPr>
        <p:spPr>
          <a:xfrm rot="0">
            <a:off x="8603183" y="5669150"/>
            <a:ext cx="4156948"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we can’t run once a day</a:t>
            </a:r>
          </a:p>
        </p:txBody>
      </p:sp>
      <p:sp>
        <p:nvSpPr>
          <p:cNvPr name="TextBox 17" id="17"/>
          <p:cNvSpPr txBox="true"/>
          <p:nvPr/>
        </p:nvSpPr>
        <p:spPr>
          <a:xfrm rot="0">
            <a:off x="8471392" y="6356258"/>
            <a:ext cx="4486543" cy="1220584"/>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nothing we can do in free account so we have github as our best solution</a:t>
            </a:r>
          </a:p>
        </p:txBody>
      </p:sp>
      <p:sp>
        <p:nvSpPr>
          <p:cNvPr name="TextBox 18" id="18"/>
          <p:cNvSpPr txBox="true"/>
          <p:nvPr/>
        </p:nvSpPr>
        <p:spPr>
          <a:xfrm rot="0">
            <a:off x="13246592" y="2549302"/>
            <a:ext cx="4716562" cy="692189"/>
          </a:xfrm>
          <a:prstGeom prst="rect">
            <a:avLst/>
          </a:prstGeom>
        </p:spPr>
        <p:txBody>
          <a:bodyPr anchor="t" rtlCol="false" tIns="0" lIns="0" bIns="0" rIns="0">
            <a:spAutoFit/>
          </a:bodyPr>
          <a:lstStyle/>
          <a:p>
            <a:pPr algn="l">
              <a:lnSpc>
                <a:spcPts val="4899"/>
              </a:lnSpc>
              <a:spcBef>
                <a:spcPct val="0"/>
              </a:spcBef>
            </a:pPr>
            <a:r>
              <a:rPr lang="en-US" sz="3499" b="true">
                <a:solidFill>
                  <a:srgbClr val="E2A9F1"/>
                </a:solidFill>
                <a:latin typeface="Agrandir Bold"/>
                <a:ea typeface="Agrandir Bold"/>
                <a:cs typeface="Agrandir Bold"/>
                <a:sym typeface="Agrandir Bold"/>
              </a:rPr>
              <a:t>BUT CODE WORKS</a:t>
            </a:r>
          </a:p>
        </p:txBody>
      </p:sp>
      <p:sp>
        <p:nvSpPr>
          <p:cNvPr name="TextBox 19" id="19"/>
          <p:cNvSpPr txBox="true"/>
          <p:nvPr/>
        </p:nvSpPr>
        <p:spPr>
          <a:xfrm rot="0">
            <a:off x="14501066" y="7654433"/>
            <a:ext cx="4743102" cy="286035"/>
          </a:xfrm>
          <a:prstGeom prst="rect">
            <a:avLst/>
          </a:prstGeom>
        </p:spPr>
        <p:txBody>
          <a:bodyPr anchor="t" rtlCol="false" tIns="0" lIns="0" bIns="0" rIns="0">
            <a:spAutoFit/>
          </a:bodyPr>
          <a:lstStyle/>
          <a:p>
            <a:pPr algn="just">
              <a:lnSpc>
                <a:spcPts val="2084"/>
              </a:lnSpc>
              <a:spcBef>
                <a:spcPct val="0"/>
              </a:spcBef>
            </a:pPr>
            <a:r>
              <a:rPr lang="en-US" sz="1488">
                <a:solidFill>
                  <a:srgbClr val="FFFFFF"/>
                </a:solidFill>
                <a:latin typeface="Agrandir"/>
                <a:ea typeface="Agrandir"/>
                <a:cs typeface="Agrandir"/>
                <a:sym typeface="Agrandir"/>
              </a:rPr>
              <a:t>When I run manually </a:t>
            </a:r>
          </a:p>
        </p:txBody>
      </p:sp>
      <p:sp>
        <p:nvSpPr>
          <p:cNvPr name="TextBox 20" id="20"/>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12</a:t>
            </a:r>
          </a:p>
        </p:txBody>
      </p:sp>
      <p:sp>
        <p:nvSpPr>
          <p:cNvPr name="Freeform 21" id="21"/>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7"/>
            <a:stretch>
              <a:fillRect l="-10785" t="0" r="-10785"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2937905" y="-351351"/>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3570029" y="5143500"/>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1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9785014" y="-103783"/>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177690" y="5038892"/>
            <a:ext cx="5214647" cy="2895354"/>
            <a:chOff x="0" y="0"/>
            <a:chExt cx="807885" cy="448566"/>
          </a:xfrm>
        </p:grpSpPr>
        <p:sp>
          <p:nvSpPr>
            <p:cNvPr name="Freeform 7" id="7"/>
            <p:cNvSpPr/>
            <p:nvPr/>
          </p:nvSpPr>
          <p:spPr>
            <a:xfrm flipH="false" flipV="false" rot="0">
              <a:off x="0" y="0"/>
              <a:ext cx="807885" cy="448566"/>
            </a:xfrm>
            <a:custGeom>
              <a:avLst/>
              <a:gdLst/>
              <a:ahLst/>
              <a:cxnLst/>
              <a:rect r="r" b="b" t="t" l="l"/>
              <a:pathLst>
                <a:path h="448566" w="807885">
                  <a:moveTo>
                    <a:pt x="34147" y="0"/>
                  </a:moveTo>
                  <a:lnTo>
                    <a:pt x="773738" y="0"/>
                  </a:lnTo>
                  <a:cubicBezTo>
                    <a:pt x="782795" y="0"/>
                    <a:pt x="791480" y="3598"/>
                    <a:pt x="797884" y="10001"/>
                  </a:cubicBezTo>
                  <a:cubicBezTo>
                    <a:pt x="804288" y="16405"/>
                    <a:pt x="807885" y="25091"/>
                    <a:pt x="807885" y="34147"/>
                  </a:cubicBezTo>
                  <a:lnTo>
                    <a:pt x="807885" y="414419"/>
                  </a:lnTo>
                  <a:cubicBezTo>
                    <a:pt x="807885" y="433278"/>
                    <a:pt x="792597" y="448566"/>
                    <a:pt x="773738" y="448566"/>
                  </a:cubicBezTo>
                  <a:lnTo>
                    <a:pt x="34147" y="448566"/>
                  </a:lnTo>
                  <a:cubicBezTo>
                    <a:pt x="15288" y="448566"/>
                    <a:pt x="0" y="433278"/>
                    <a:pt x="0" y="414419"/>
                  </a:cubicBezTo>
                  <a:lnTo>
                    <a:pt x="0" y="34147"/>
                  </a:lnTo>
                  <a:cubicBezTo>
                    <a:pt x="0" y="15288"/>
                    <a:pt x="15288" y="0"/>
                    <a:pt x="34147" y="0"/>
                  </a:cubicBezTo>
                  <a:close/>
                </a:path>
              </a:pathLst>
            </a:custGeom>
            <a:blipFill>
              <a:blip r:embed="rId5"/>
              <a:stretch>
                <a:fillRect l="0" t="-2286" r="0" b="-2286"/>
              </a:stretch>
            </a:blipFill>
            <a:ln w="28575" cap="rnd">
              <a:solidFill>
                <a:srgbClr val="FFA800"/>
              </a:solidFill>
              <a:prstDash val="solid"/>
              <a:round/>
            </a:ln>
          </p:spPr>
        </p:sp>
      </p:grpSp>
      <p:grpSp>
        <p:nvGrpSpPr>
          <p:cNvPr name="Group 8" id="8"/>
          <p:cNvGrpSpPr/>
          <p:nvPr/>
        </p:nvGrpSpPr>
        <p:grpSpPr>
          <a:xfrm rot="0">
            <a:off x="12973363" y="2389690"/>
            <a:ext cx="4939618" cy="5388745"/>
            <a:chOff x="0" y="0"/>
            <a:chExt cx="765276" cy="834858"/>
          </a:xfrm>
        </p:grpSpPr>
        <p:sp>
          <p:nvSpPr>
            <p:cNvPr name="Freeform 9" id="9"/>
            <p:cNvSpPr/>
            <p:nvPr/>
          </p:nvSpPr>
          <p:spPr>
            <a:xfrm flipH="false" flipV="false" rot="0">
              <a:off x="0" y="0"/>
              <a:ext cx="765276" cy="834858"/>
            </a:xfrm>
            <a:custGeom>
              <a:avLst/>
              <a:gdLst/>
              <a:ahLst/>
              <a:cxnLst/>
              <a:rect r="r" b="b" t="t" l="l"/>
              <a:pathLst>
                <a:path h="834858" w="765276">
                  <a:moveTo>
                    <a:pt x="36048" y="0"/>
                  </a:moveTo>
                  <a:lnTo>
                    <a:pt x="729228" y="0"/>
                  </a:lnTo>
                  <a:cubicBezTo>
                    <a:pt x="738788" y="0"/>
                    <a:pt x="747957" y="3798"/>
                    <a:pt x="754718" y="10558"/>
                  </a:cubicBezTo>
                  <a:cubicBezTo>
                    <a:pt x="761478" y="17319"/>
                    <a:pt x="765276" y="26488"/>
                    <a:pt x="765276" y="36048"/>
                  </a:cubicBezTo>
                  <a:lnTo>
                    <a:pt x="765276" y="798809"/>
                  </a:lnTo>
                  <a:cubicBezTo>
                    <a:pt x="765276" y="808370"/>
                    <a:pt x="761478" y="817539"/>
                    <a:pt x="754718" y="824299"/>
                  </a:cubicBezTo>
                  <a:cubicBezTo>
                    <a:pt x="747957" y="831060"/>
                    <a:pt x="738788" y="834858"/>
                    <a:pt x="729228" y="834858"/>
                  </a:cubicBezTo>
                  <a:lnTo>
                    <a:pt x="36048" y="834858"/>
                  </a:lnTo>
                  <a:cubicBezTo>
                    <a:pt x="16139" y="834858"/>
                    <a:pt x="0" y="818718"/>
                    <a:pt x="0" y="798809"/>
                  </a:cubicBezTo>
                  <a:lnTo>
                    <a:pt x="0" y="36048"/>
                  </a:lnTo>
                  <a:cubicBezTo>
                    <a:pt x="0" y="26488"/>
                    <a:pt x="3798" y="17319"/>
                    <a:pt x="10558" y="10558"/>
                  </a:cubicBezTo>
                  <a:cubicBezTo>
                    <a:pt x="17319" y="3798"/>
                    <a:pt x="26488" y="0"/>
                    <a:pt x="36048" y="0"/>
                  </a:cubicBezTo>
                  <a:close/>
                </a:path>
              </a:pathLst>
            </a:custGeom>
            <a:blipFill>
              <a:blip r:embed="rId6"/>
              <a:stretch>
                <a:fillRect l="0" t="-811" r="0" b="-811"/>
              </a:stretch>
            </a:blipFill>
            <a:ln w="28575" cap="rnd">
              <a:solidFill>
                <a:srgbClr val="FFA800"/>
              </a:solidFill>
              <a:prstDash val="solid"/>
              <a:round/>
            </a:ln>
          </p:spPr>
        </p:sp>
      </p:grpSp>
      <p:sp>
        <p:nvSpPr>
          <p:cNvPr name="Freeform 10" id="10"/>
          <p:cNvSpPr/>
          <p:nvPr/>
        </p:nvSpPr>
        <p:spPr>
          <a:xfrm flipH="true" flipV="false" rot="0">
            <a:off x="2269177" y="4780932"/>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true" flipV="false" rot="0">
            <a:off x="2269177" y="5507804"/>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3163132" y="6054808"/>
            <a:ext cx="4078649" cy="758749"/>
          </a:xfrm>
          <a:prstGeom prst="rect">
            <a:avLst/>
          </a:prstGeom>
        </p:spPr>
        <p:txBody>
          <a:bodyPr anchor="t" rtlCol="false" tIns="0" lIns="0" bIns="0" rIns="0">
            <a:spAutoFit/>
          </a:bodyPr>
          <a:lstStyle/>
          <a:p>
            <a:pPr algn="l">
              <a:lnSpc>
                <a:spcPts val="2800"/>
              </a:lnSpc>
            </a:pPr>
            <a:r>
              <a:rPr lang="en-US" sz="2000">
                <a:solidFill>
                  <a:srgbClr val="FFA800"/>
                </a:solidFill>
                <a:latin typeface="Agrandir"/>
                <a:ea typeface="Agrandir"/>
                <a:cs typeface="Agrandir"/>
                <a:sym typeface="Agrandir"/>
              </a:rPr>
              <a:t>email : testcgs123@gmail.com</a:t>
            </a:r>
          </a:p>
          <a:p>
            <a:pPr algn="l">
              <a:lnSpc>
                <a:spcPts val="2800"/>
              </a:lnSpc>
              <a:spcBef>
                <a:spcPct val="0"/>
              </a:spcBef>
            </a:pPr>
            <a:r>
              <a:rPr lang="en-US" sz="2000">
                <a:solidFill>
                  <a:srgbClr val="FFA800"/>
                </a:solidFill>
                <a:latin typeface="Agrandir"/>
                <a:ea typeface="Agrandir"/>
                <a:cs typeface="Agrandir"/>
                <a:sym typeface="Agrandir"/>
              </a:rPr>
              <a:t>pass : PLEASE ASK IF NEEDED</a:t>
            </a:r>
          </a:p>
        </p:txBody>
      </p:sp>
      <p:sp>
        <p:nvSpPr>
          <p:cNvPr name="Freeform 13" id="13"/>
          <p:cNvSpPr/>
          <p:nvPr/>
        </p:nvSpPr>
        <p:spPr>
          <a:xfrm flipH="true" flipV="false" rot="0">
            <a:off x="6410242" y="6486569"/>
            <a:ext cx="1663077" cy="1672198"/>
          </a:xfrm>
          <a:custGeom>
            <a:avLst/>
            <a:gdLst/>
            <a:ahLst/>
            <a:cxnLst/>
            <a:rect r="r" b="b" t="t" l="l"/>
            <a:pathLst>
              <a:path h="1672198" w="1663077">
                <a:moveTo>
                  <a:pt x="1663077" y="0"/>
                </a:moveTo>
                <a:lnTo>
                  <a:pt x="0" y="0"/>
                </a:lnTo>
                <a:lnTo>
                  <a:pt x="0" y="1672198"/>
                </a:lnTo>
                <a:lnTo>
                  <a:pt x="1663077" y="1672198"/>
                </a:lnTo>
                <a:lnTo>
                  <a:pt x="1663077" y="0"/>
                </a:lnTo>
                <a:close/>
              </a:path>
            </a:pathLst>
          </a:custGeom>
          <a:blipFill>
            <a:blip r:embed="rId3">
              <a:alphaModFix amt="80000"/>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false" rot="0">
            <a:off x="7736378" y="6541598"/>
            <a:ext cx="1663077" cy="1672198"/>
          </a:xfrm>
          <a:custGeom>
            <a:avLst/>
            <a:gdLst/>
            <a:ahLst/>
            <a:cxnLst/>
            <a:rect r="r" b="b" t="t" l="l"/>
            <a:pathLst>
              <a:path h="1672198" w="1663077">
                <a:moveTo>
                  <a:pt x="1663077" y="0"/>
                </a:moveTo>
                <a:lnTo>
                  <a:pt x="0" y="0"/>
                </a:lnTo>
                <a:lnTo>
                  <a:pt x="0" y="1672198"/>
                </a:lnTo>
                <a:lnTo>
                  <a:pt x="1663077" y="1672198"/>
                </a:lnTo>
                <a:lnTo>
                  <a:pt x="1663077" y="0"/>
                </a:lnTo>
                <a:close/>
              </a:path>
            </a:pathLst>
          </a:custGeom>
          <a:blipFill>
            <a:blip r:embed="rId3">
              <a:alphaModFix amt="80000"/>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2269177" y="2390429"/>
            <a:ext cx="4656761"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ROAD</a:t>
            </a:r>
          </a:p>
        </p:txBody>
      </p:sp>
      <p:sp>
        <p:nvSpPr>
          <p:cNvPr name="TextBox 16" id="16"/>
          <p:cNvSpPr txBox="true"/>
          <p:nvPr/>
        </p:nvSpPr>
        <p:spPr>
          <a:xfrm rot="0">
            <a:off x="2269177" y="3153625"/>
            <a:ext cx="4277982"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3</a:t>
            </a:r>
          </a:p>
        </p:txBody>
      </p:sp>
      <p:sp>
        <p:nvSpPr>
          <p:cNvPr name="TextBox 17" id="17"/>
          <p:cNvSpPr txBox="true"/>
          <p:nvPr/>
        </p:nvSpPr>
        <p:spPr>
          <a:xfrm rot="0">
            <a:off x="7032842" y="1923932"/>
            <a:ext cx="5359496" cy="3114960"/>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This is the ultimate legal solution I found to run the script.</a:t>
            </a:r>
          </a:p>
          <a:p>
            <a:pPr algn="just">
              <a:lnSpc>
                <a:spcPts val="2084"/>
              </a:lnSpc>
            </a:pPr>
            <a:r>
              <a:rPr lang="en-US" sz="1488">
                <a:solidFill>
                  <a:srgbClr val="FFFFFF"/>
                </a:solidFill>
                <a:latin typeface="Agrandir"/>
                <a:ea typeface="Agrandir"/>
                <a:cs typeface="Agrandir"/>
                <a:sym typeface="Agrandir"/>
              </a:rPr>
              <a:t>But it also has problems I have tracked it. we will see that in the next session</a:t>
            </a:r>
          </a:p>
          <a:p>
            <a:pPr algn="just">
              <a:lnSpc>
                <a:spcPts val="2084"/>
              </a:lnSpc>
            </a:pPr>
            <a:r>
              <a:rPr lang="en-US" sz="1488">
                <a:solidFill>
                  <a:srgbClr val="AE280B"/>
                </a:solidFill>
                <a:latin typeface="Agrandir"/>
                <a:ea typeface="Agrandir"/>
                <a:cs typeface="Agrandir"/>
                <a:sym typeface="Agrandir"/>
              </a:rPr>
              <a:t>Other Problems :</a:t>
            </a:r>
            <a:r>
              <a:rPr lang="en-US" sz="1488">
                <a:solidFill>
                  <a:srgbClr val="FFFFFF"/>
                </a:solidFill>
                <a:latin typeface="Agrandir"/>
                <a:ea typeface="Agrandir"/>
                <a:cs typeface="Agrandir"/>
                <a:sym typeface="Agrandir"/>
              </a:rPr>
              <a:t> The script used datetime.datetime.now() with no timezone. On GitHub's servers this returns UTC, not IST — so 07:45 in our schedule was being compared against UTC time, a 5.5 hour mismatch, and never matched. </a:t>
            </a:r>
          </a:p>
          <a:p>
            <a:pPr algn="just">
              <a:lnSpc>
                <a:spcPts val="2084"/>
              </a:lnSpc>
            </a:pPr>
            <a:r>
              <a:rPr lang="en-US" sz="1488">
                <a:solidFill>
                  <a:srgbClr val="00BF63"/>
                </a:solidFill>
                <a:latin typeface="Agrandir"/>
                <a:ea typeface="Agrandir"/>
                <a:cs typeface="Agrandir"/>
                <a:sym typeface="Agrandir"/>
              </a:rPr>
              <a:t>Solution</a:t>
            </a:r>
            <a:r>
              <a:rPr lang="en-US" sz="1488">
                <a:solidFill>
                  <a:srgbClr val="FFFFFF"/>
                </a:solidFill>
                <a:latin typeface="Agrandir"/>
                <a:ea typeface="Agrandir"/>
                <a:cs typeface="Agrandir"/>
                <a:sym typeface="Agrandir"/>
              </a:rPr>
              <a:t>: Built an explicit IST timezone object (UTC+5:30) and used datetime.datetime.now(IST) so the script always computes the correct local time regardless of the server's own clock.</a:t>
            </a:r>
          </a:p>
          <a:p>
            <a:pPr algn="just">
              <a:lnSpc>
                <a:spcPts val="2084"/>
              </a:lnSpc>
              <a:spcBef>
                <a:spcPct val="0"/>
              </a:spcBef>
            </a:pPr>
          </a:p>
        </p:txBody>
      </p:sp>
      <p:sp>
        <p:nvSpPr>
          <p:cNvPr name="TextBox 18" id="18"/>
          <p:cNvSpPr txBox="true"/>
          <p:nvPr/>
        </p:nvSpPr>
        <p:spPr>
          <a:xfrm rot="0">
            <a:off x="3026214" y="4732090"/>
            <a:ext cx="4215566" cy="406362"/>
          </a:xfrm>
          <a:prstGeom prst="rect">
            <a:avLst/>
          </a:prstGeom>
        </p:spPr>
        <p:txBody>
          <a:bodyPr anchor="t" rtlCol="false" tIns="0" lIns="0" bIns="0" rIns="0">
            <a:spAutoFit/>
          </a:bodyPr>
          <a:lstStyle/>
          <a:p>
            <a:pPr algn="l">
              <a:lnSpc>
                <a:spcPts val="2800"/>
              </a:lnSpc>
              <a:spcBef>
                <a:spcPct val="0"/>
              </a:spcBef>
            </a:pPr>
            <a:r>
              <a:rPr lang="en-US" sz="2000">
                <a:solidFill>
                  <a:srgbClr val="FFA800"/>
                </a:solidFill>
                <a:latin typeface="Agrandir"/>
                <a:ea typeface="Agrandir"/>
                <a:cs typeface="Agrandir"/>
                <a:sym typeface="Agrandir"/>
              </a:rPr>
              <a:t>Runs on Github Actions</a:t>
            </a:r>
          </a:p>
        </p:txBody>
      </p:sp>
      <p:sp>
        <p:nvSpPr>
          <p:cNvPr name="TextBox 19" id="19"/>
          <p:cNvSpPr txBox="true"/>
          <p:nvPr/>
        </p:nvSpPr>
        <p:spPr>
          <a:xfrm rot="0">
            <a:off x="3026214" y="5458962"/>
            <a:ext cx="3384028" cy="406362"/>
          </a:xfrm>
          <a:prstGeom prst="rect">
            <a:avLst/>
          </a:prstGeom>
        </p:spPr>
        <p:txBody>
          <a:bodyPr anchor="t" rtlCol="false" tIns="0" lIns="0" bIns="0" rIns="0">
            <a:spAutoFit/>
          </a:bodyPr>
          <a:lstStyle/>
          <a:p>
            <a:pPr algn="l">
              <a:lnSpc>
                <a:spcPts val="2800"/>
              </a:lnSpc>
              <a:spcBef>
                <a:spcPct val="0"/>
              </a:spcBef>
            </a:pPr>
            <a:r>
              <a:rPr lang="en-US" sz="2000">
                <a:solidFill>
                  <a:srgbClr val="FFFFFF"/>
                </a:solidFill>
                <a:latin typeface="Agrandir"/>
                <a:ea typeface="Agrandir"/>
                <a:cs typeface="Agrandir"/>
                <a:sym typeface="Agrandir"/>
              </a:rPr>
              <a:t>github sign in details</a:t>
            </a:r>
          </a:p>
        </p:txBody>
      </p:sp>
      <p:sp>
        <p:nvSpPr>
          <p:cNvPr name="TextBox 20" id="20"/>
          <p:cNvSpPr txBox="true"/>
          <p:nvPr/>
        </p:nvSpPr>
        <p:spPr>
          <a:xfrm rot="0">
            <a:off x="14824429" y="7838782"/>
            <a:ext cx="1237485" cy="324193"/>
          </a:xfrm>
          <a:prstGeom prst="rect">
            <a:avLst/>
          </a:prstGeom>
        </p:spPr>
        <p:txBody>
          <a:bodyPr anchor="t" rtlCol="false" tIns="0" lIns="0" bIns="0" rIns="0">
            <a:spAutoFit/>
          </a:bodyPr>
          <a:lstStyle/>
          <a:p>
            <a:pPr algn="ctr">
              <a:lnSpc>
                <a:spcPts val="2641"/>
              </a:lnSpc>
            </a:pPr>
            <a:r>
              <a:rPr lang="en-US" sz="1886" b="true">
                <a:solidFill>
                  <a:srgbClr val="FFFFFF"/>
                </a:solidFill>
                <a:latin typeface="Canva Sans Bold"/>
                <a:ea typeface="Canva Sans Bold"/>
                <a:cs typeface="Canva Sans Bold"/>
                <a:sym typeface="Canva Sans Bold"/>
              </a:rPr>
              <a:t>fig. 3.1</a:t>
            </a:r>
          </a:p>
        </p:txBody>
      </p:sp>
      <p:sp>
        <p:nvSpPr>
          <p:cNvPr name="TextBox 21" id="21"/>
          <p:cNvSpPr txBox="true"/>
          <p:nvPr/>
        </p:nvSpPr>
        <p:spPr>
          <a:xfrm rot="0">
            <a:off x="13959157" y="8213796"/>
            <a:ext cx="2968028" cy="701597"/>
          </a:xfrm>
          <a:prstGeom prst="rect">
            <a:avLst/>
          </a:prstGeom>
        </p:spPr>
        <p:txBody>
          <a:bodyPr anchor="t" rtlCol="false" tIns="0" lIns="0" bIns="0" rIns="0">
            <a:spAutoFit/>
          </a:bodyPr>
          <a:lstStyle/>
          <a:p>
            <a:pPr algn="ctr">
              <a:lnSpc>
                <a:spcPts val="2800"/>
              </a:lnSpc>
            </a:pPr>
            <a:r>
              <a:rPr lang="en-US" sz="2000">
                <a:solidFill>
                  <a:srgbClr val="FFFFFF"/>
                </a:solidFill>
                <a:latin typeface="Canva Sans"/>
                <a:ea typeface="Canva Sans"/>
                <a:cs typeface="Canva Sans"/>
                <a:sym typeface="Canva Sans"/>
              </a:rPr>
              <a:t>name of the file is </a:t>
            </a:r>
          </a:p>
          <a:p>
            <a:pPr algn="ctr">
              <a:lnSpc>
                <a:spcPts val="2800"/>
              </a:lnSpc>
            </a:pPr>
            <a:r>
              <a:rPr lang="en-US" sz="2000">
                <a:solidFill>
                  <a:srgbClr val="00BF63"/>
                </a:solidFill>
                <a:latin typeface="Canva Sans"/>
                <a:ea typeface="Canva Sans"/>
                <a:cs typeface="Canva Sans"/>
                <a:sym typeface="Canva Sans"/>
              </a:rPr>
              <a:t>timetable_reminderg.py</a:t>
            </a:r>
            <a:r>
              <a:rPr lang="en-US" sz="2000" b="true">
                <a:solidFill>
                  <a:srgbClr val="000000"/>
                </a:solidFill>
                <a:latin typeface="Canva Sans Bold"/>
                <a:ea typeface="Canva Sans Bold"/>
                <a:cs typeface="Canva Sans Bold"/>
                <a:sym typeface="Canva Sans Bold"/>
              </a:rPr>
              <a:t> </a:t>
            </a:r>
          </a:p>
        </p:txBody>
      </p:sp>
      <p:sp>
        <p:nvSpPr>
          <p:cNvPr name="TextBox 22" id="22"/>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13</a:t>
            </a:r>
          </a:p>
        </p:txBody>
      </p:sp>
      <p:sp>
        <p:nvSpPr>
          <p:cNvPr name="Freeform 23" id="23"/>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7"/>
            <a:stretch>
              <a:fillRect l="-10785" t="0" r="-10785"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5523174" y="0"/>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488924" y="1827676"/>
            <a:ext cx="4548473" cy="3189828"/>
            <a:chOff x="0" y="0"/>
            <a:chExt cx="704677" cy="494188"/>
          </a:xfrm>
        </p:grpSpPr>
        <p:sp>
          <p:nvSpPr>
            <p:cNvPr name="Freeform 6" id="6"/>
            <p:cNvSpPr/>
            <p:nvPr/>
          </p:nvSpPr>
          <p:spPr>
            <a:xfrm flipH="false" flipV="false" rot="0">
              <a:off x="0" y="0"/>
              <a:ext cx="704677" cy="494188"/>
            </a:xfrm>
            <a:custGeom>
              <a:avLst/>
              <a:gdLst/>
              <a:ahLst/>
              <a:cxnLst/>
              <a:rect r="r" b="b" t="t" l="l"/>
              <a:pathLst>
                <a:path h="494188" w="704677">
                  <a:moveTo>
                    <a:pt x="39148" y="0"/>
                  </a:moveTo>
                  <a:lnTo>
                    <a:pt x="665529" y="0"/>
                  </a:lnTo>
                  <a:cubicBezTo>
                    <a:pt x="675912" y="0"/>
                    <a:pt x="685870" y="4125"/>
                    <a:pt x="693211" y="11466"/>
                  </a:cubicBezTo>
                  <a:cubicBezTo>
                    <a:pt x="700553" y="18808"/>
                    <a:pt x="704677" y="28765"/>
                    <a:pt x="704677" y="39148"/>
                  </a:cubicBezTo>
                  <a:lnTo>
                    <a:pt x="704677" y="455040"/>
                  </a:lnTo>
                  <a:cubicBezTo>
                    <a:pt x="704677" y="465422"/>
                    <a:pt x="700553" y="475380"/>
                    <a:pt x="693211" y="482722"/>
                  </a:cubicBezTo>
                  <a:cubicBezTo>
                    <a:pt x="685870" y="490063"/>
                    <a:pt x="675912" y="494188"/>
                    <a:pt x="665529" y="494188"/>
                  </a:cubicBezTo>
                  <a:lnTo>
                    <a:pt x="39148" y="494188"/>
                  </a:lnTo>
                  <a:cubicBezTo>
                    <a:pt x="28765" y="494188"/>
                    <a:pt x="18808" y="490063"/>
                    <a:pt x="11466" y="482722"/>
                  </a:cubicBezTo>
                  <a:cubicBezTo>
                    <a:pt x="4125" y="475380"/>
                    <a:pt x="0" y="465422"/>
                    <a:pt x="0" y="455040"/>
                  </a:cubicBezTo>
                  <a:lnTo>
                    <a:pt x="0" y="39148"/>
                  </a:lnTo>
                  <a:cubicBezTo>
                    <a:pt x="0" y="28765"/>
                    <a:pt x="4125" y="18808"/>
                    <a:pt x="11466" y="11466"/>
                  </a:cubicBezTo>
                  <a:cubicBezTo>
                    <a:pt x="18808" y="4125"/>
                    <a:pt x="28765" y="0"/>
                    <a:pt x="39148" y="0"/>
                  </a:cubicBezTo>
                  <a:close/>
                </a:path>
              </a:pathLst>
            </a:custGeom>
            <a:blipFill>
              <a:blip r:embed="rId5"/>
              <a:stretch>
                <a:fillRect l="0" t="-1266" r="0" b="-1266"/>
              </a:stretch>
            </a:blipFill>
            <a:ln w="28575" cap="rnd">
              <a:solidFill>
                <a:srgbClr val="FFA800"/>
              </a:solidFill>
              <a:prstDash val="solid"/>
              <a:round/>
            </a:ln>
          </p:spPr>
        </p:sp>
      </p:grpSp>
      <p:grpSp>
        <p:nvGrpSpPr>
          <p:cNvPr name="Group 7" id="7"/>
          <p:cNvGrpSpPr/>
          <p:nvPr/>
        </p:nvGrpSpPr>
        <p:grpSpPr>
          <a:xfrm rot="0">
            <a:off x="2488924" y="5554827"/>
            <a:ext cx="4548473" cy="2960917"/>
            <a:chOff x="0" y="0"/>
            <a:chExt cx="704677" cy="458723"/>
          </a:xfrm>
        </p:grpSpPr>
        <p:sp>
          <p:nvSpPr>
            <p:cNvPr name="Freeform 8" id="8"/>
            <p:cNvSpPr/>
            <p:nvPr/>
          </p:nvSpPr>
          <p:spPr>
            <a:xfrm flipH="false" flipV="false" rot="0">
              <a:off x="0" y="0"/>
              <a:ext cx="704677" cy="458724"/>
            </a:xfrm>
            <a:custGeom>
              <a:avLst/>
              <a:gdLst/>
              <a:ahLst/>
              <a:cxnLst/>
              <a:rect r="r" b="b" t="t" l="l"/>
              <a:pathLst>
                <a:path h="458724" w="704677">
                  <a:moveTo>
                    <a:pt x="39148" y="0"/>
                  </a:moveTo>
                  <a:lnTo>
                    <a:pt x="665529" y="0"/>
                  </a:lnTo>
                  <a:cubicBezTo>
                    <a:pt x="675912" y="0"/>
                    <a:pt x="685870" y="4125"/>
                    <a:pt x="693211" y="11466"/>
                  </a:cubicBezTo>
                  <a:cubicBezTo>
                    <a:pt x="700553" y="18808"/>
                    <a:pt x="704677" y="28765"/>
                    <a:pt x="704677" y="39148"/>
                  </a:cubicBezTo>
                  <a:lnTo>
                    <a:pt x="704677" y="419575"/>
                  </a:lnTo>
                  <a:cubicBezTo>
                    <a:pt x="704677" y="429958"/>
                    <a:pt x="700553" y="439916"/>
                    <a:pt x="693211" y="447257"/>
                  </a:cubicBezTo>
                  <a:cubicBezTo>
                    <a:pt x="685870" y="454599"/>
                    <a:pt x="675912" y="458724"/>
                    <a:pt x="665529" y="458724"/>
                  </a:cubicBezTo>
                  <a:lnTo>
                    <a:pt x="39148" y="458724"/>
                  </a:lnTo>
                  <a:cubicBezTo>
                    <a:pt x="28765" y="458724"/>
                    <a:pt x="18808" y="454599"/>
                    <a:pt x="11466" y="447257"/>
                  </a:cubicBezTo>
                  <a:cubicBezTo>
                    <a:pt x="4125" y="439916"/>
                    <a:pt x="0" y="429958"/>
                    <a:pt x="0" y="419575"/>
                  </a:cubicBezTo>
                  <a:lnTo>
                    <a:pt x="0" y="39148"/>
                  </a:lnTo>
                  <a:cubicBezTo>
                    <a:pt x="0" y="28765"/>
                    <a:pt x="4125" y="18808"/>
                    <a:pt x="11466" y="11466"/>
                  </a:cubicBezTo>
                  <a:cubicBezTo>
                    <a:pt x="18808" y="4125"/>
                    <a:pt x="28765" y="0"/>
                    <a:pt x="39148" y="0"/>
                  </a:cubicBezTo>
                  <a:close/>
                </a:path>
              </a:pathLst>
            </a:custGeom>
            <a:blipFill>
              <a:blip r:embed="rId6"/>
              <a:stretch>
                <a:fillRect l="-7928" t="0" r="-7928" b="0"/>
              </a:stretch>
            </a:blipFill>
            <a:ln w="28575" cap="rnd">
              <a:solidFill>
                <a:srgbClr val="FFA800"/>
              </a:solidFill>
              <a:prstDash val="solid"/>
              <a:round/>
            </a:ln>
          </p:spPr>
        </p:sp>
      </p:grpSp>
      <p:sp>
        <p:nvSpPr>
          <p:cNvPr name="Freeform 9" id="9"/>
          <p:cNvSpPr/>
          <p:nvPr/>
        </p:nvSpPr>
        <p:spPr>
          <a:xfrm flipH="true" flipV="false" rot="0">
            <a:off x="8310066" y="3208335"/>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8310066" y="5101296"/>
            <a:ext cx="419770" cy="422072"/>
          </a:xfrm>
          <a:custGeom>
            <a:avLst/>
            <a:gdLst/>
            <a:ahLst/>
            <a:cxnLst/>
            <a:rect r="r" b="b" t="t" l="l"/>
            <a:pathLst>
              <a:path h="422072" w="419770">
                <a:moveTo>
                  <a:pt x="419770" y="0"/>
                </a:moveTo>
                <a:lnTo>
                  <a:pt x="0" y="0"/>
                </a:lnTo>
                <a:lnTo>
                  <a:pt x="0" y="422073"/>
                </a:lnTo>
                <a:lnTo>
                  <a:pt x="419770" y="422073"/>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8251976" y="1458585"/>
            <a:ext cx="2569482"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How I  </a:t>
            </a:r>
          </a:p>
        </p:txBody>
      </p:sp>
      <p:sp>
        <p:nvSpPr>
          <p:cNvPr name="TextBox 12" id="12"/>
          <p:cNvSpPr txBox="true"/>
          <p:nvPr/>
        </p:nvSpPr>
        <p:spPr>
          <a:xfrm rot="0">
            <a:off x="10745258" y="1458585"/>
            <a:ext cx="4008340"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Worked</a:t>
            </a:r>
          </a:p>
        </p:txBody>
      </p:sp>
      <p:sp>
        <p:nvSpPr>
          <p:cNvPr name="TextBox 13" id="13"/>
          <p:cNvSpPr txBox="true"/>
          <p:nvPr/>
        </p:nvSpPr>
        <p:spPr>
          <a:xfrm rot="0">
            <a:off x="9067103" y="3191004"/>
            <a:ext cx="5686495"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choosing github</a:t>
            </a:r>
          </a:p>
        </p:txBody>
      </p:sp>
      <p:sp>
        <p:nvSpPr>
          <p:cNvPr name="TextBox 14" id="14"/>
          <p:cNvSpPr txBox="true"/>
          <p:nvPr/>
        </p:nvSpPr>
        <p:spPr>
          <a:xfrm rot="0">
            <a:off x="9067103" y="3672393"/>
            <a:ext cx="7391678" cy="1057560"/>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now after pythonanywhere Github was only the solution.</a:t>
            </a:r>
          </a:p>
          <a:p>
            <a:pPr algn="just">
              <a:lnSpc>
                <a:spcPts val="2084"/>
              </a:lnSpc>
            </a:pPr>
            <a:r>
              <a:rPr lang="en-US" sz="1488">
                <a:solidFill>
                  <a:srgbClr val="FFFFFF"/>
                </a:solidFill>
                <a:latin typeface="Agrandir"/>
                <a:ea typeface="Agrandir"/>
                <a:cs typeface="Agrandir"/>
                <a:sym typeface="Agrandir"/>
              </a:rPr>
              <a:t>so logged in to github took help from Claude and chatgpt to fix the errors I faced in the on-going step.</a:t>
            </a:r>
          </a:p>
          <a:p>
            <a:pPr algn="just">
              <a:lnSpc>
                <a:spcPts val="2084"/>
              </a:lnSpc>
              <a:spcBef>
                <a:spcPct val="0"/>
              </a:spcBef>
            </a:pPr>
            <a:r>
              <a:rPr lang="en-US" sz="1488">
                <a:solidFill>
                  <a:srgbClr val="FFFFFF"/>
                </a:solidFill>
                <a:latin typeface="Agrandir"/>
                <a:ea typeface="Agrandir"/>
                <a:cs typeface="Agrandir"/>
                <a:sym typeface="Agrandir"/>
              </a:rPr>
              <a:t> </a:t>
            </a:r>
          </a:p>
        </p:txBody>
      </p:sp>
      <p:sp>
        <p:nvSpPr>
          <p:cNvPr name="TextBox 15" id="15"/>
          <p:cNvSpPr txBox="true"/>
          <p:nvPr/>
        </p:nvSpPr>
        <p:spPr>
          <a:xfrm rot="0">
            <a:off x="9067103" y="5083965"/>
            <a:ext cx="3703833"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How I run the code in github</a:t>
            </a:r>
          </a:p>
        </p:txBody>
      </p:sp>
      <p:sp>
        <p:nvSpPr>
          <p:cNvPr name="TextBox 16" id="16"/>
          <p:cNvSpPr txBox="true"/>
          <p:nvPr/>
        </p:nvSpPr>
        <p:spPr>
          <a:xfrm rot="0">
            <a:off x="9067103" y="5565355"/>
            <a:ext cx="7391678" cy="3629310"/>
          </a:xfrm>
          <a:prstGeom prst="rect">
            <a:avLst/>
          </a:prstGeom>
        </p:spPr>
        <p:txBody>
          <a:bodyPr anchor="t" rtlCol="false" tIns="0" lIns="0" bIns="0" rIns="0">
            <a:spAutoFit/>
          </a:bodyPr>
          <a:lstStyle/>
          <a:p>
            <a:pPr algn="just">
              <a:lnSpc>
                <a:spcPts val="2084"/>
              </a:lnSpc>
            </a:pPr>
            <a:r>
              <a:rPr lang="en-US" sz="1488">
                <a:solidFill>
                  <a:srgbClr val="FFFFFF"/>
                </a:solidFill>
                <a:latin typeface="Agrandir"/>
                <a:ea typeface="Agrandir"/>
                <a:cs typeface="Agrandir"/>
                <a:sym typeface="Agrandir"/>
              </a:rPr>
              <a:t>first after completing all my script ready </a:t>
            </a:r>
          </a:p>
          <a:p>
            <a:pPr algn="just">
              <a:lnSpc>
                <a:spcPts val="2084"/>
              </a:lnSpc>
            </a:pPr>
            <a:r>
              <a:rPr lang="en-US" sz="1488">
                <a:solidFill>
                  <a:srgbClr val="FFFFFF"/>
                </a:solidFill>
                <a:latin typeface="Agrandir"/>
                <a:ea typeface="Agrandir"/>
                <a:cs typeface="Agrandir"/>
                <a:sym typeface="Agrandir"/>
              </a:rPr>
              <a:t>I came to know </a:t>
            </a:r>
          </a:p>
          <a:p>
            <a:pPr algn="just">
              <a:lnSpc>
                <a:spcPts val="2084"/>
              </a:lnSpc>
            </a:pPr>
            <a:r>
              <a:rPr lang="en-US" sz="1488">
                <a:solidFill>
                  <a:srgbClr val="FFFFFF"/>
                </a:solidFill>
                <a:latin typeface="Agrandir"/>
                <a:ea typeface="Agrandir"/>
                <a:cs typeface="Agrandir"/>
                <a:sym typeface="Agrandir"/>
              </a:rPr>
              <a:t>changes made: -</a:t>
            </a:r>
          </a:p>
          <a:p>
            <a:pPr algn="just">
              <a:lnSpc>
                <a:spcPts val="2084"/>
              </a:lnSpc>
            </a:pPr>
            <a:r>
              <a:rPr lang="en-US" sz="1488">
                <a:solidFill>
                  <a:srgbClr val="FFFFFF"/>
                </a:solidFill>
                <a:latin typeface="Agrandir"/>
                <a:ea typeface="Agrandir"/>
                <a:cs typeface="Agrandir"/>
                <a:sym typeface="Agrandir"/>
              </a:rPr>
              <a:t>   </a:t>
            </a:r>
          </a:p>
          <a:p>
            <a:pPr algn="just">
              <a:lnSpc>
                <a:spcPts val="2084"/>
              </a:lnSpc>
            </a:pPr>
          </a:p>
          <a:p>
            <a:pPr algn="just">
              <a:lnSpc>
                <a:spcPts val="2084"/>
              </a:lnSpc>
            </a:pPr>
          </a:p>
          <a:p>
            <a:pPr algn="just">
              <a:lnSpc>
                <a:spcPts val="2084"/>
              </a:lnSpc>
            </a:pPr>
          </a:p>
          <a:p>
            <a:pPr algn="just">
              <a:lnSpc>
                <a:spcPts val="2084"/>
              </a:lnSpc>
            </a:pPr>
          </a:p>
          <a:p>
            <a:pPr algn="just">
              <a:lnSpc>
                <a:spcPts val="2084"/>
              </a:lnSpc>
            </a:pPr>
          </a:p>
          <a:p>
            <a:pPr algn="just">
              <a:lnSpc>
                <a:spcPts val="2084"/>
              </a:lnSpc>
            </a:pPr>
            <a:r>
              <a:rPr lang="en-US" sz="1488">
                <a:solidFill>
                  <a:srgbClr val="FFFFFF"/>
                </a:solidFill>
                <a:latin typeface="Agrandir"/>
                <a:ea typeface="Agrandir"/>
                <a:cs typeface="Agrandir"/>
                <a:sym typeface="Agrandir"/>
              </a:rPr>
              <a:t>Then after I run the code many time till now it worked 700+ times and sent me email of the classes.</a:t>
            </a:r>
          </a:p>
          <a:p>
            <a:pPr algn="just">
              <a:lnSpc>
                <a:spcPts val="2084"/>
              </a:lnSpc>
            </a:pPr>
            <a:r>
              <a:rPr lang="en-US" sz="1488">
                <a:solidFill>
                  <a:srgbClr val="FFFFFF"/>
                </a:solidFill>
                <a:latin typeface="Agrandir"/>
                <a:ea typeface="Agrandir"/>
                <a:cs typeface="Agrandir"/>
                <a:sym typeface="Agrandir"/>
              </a:rPr>
              <a:t>As I said it is not working as we need we only have PythonAnywhere paid one as our best option to have a satisfactory results.</a:t>
            </a:r>
          </a:p>
          <a:p>
            <a:pPr algn="just">
              <a:lnSpc>
                <a:spcPts val="2084"/>
              </a:lnSpc>
              <a:spcBef>
                <a:spcPct val="0"/>
              </a:spcBef>
            </a:pPr>
            <a:r>
              <a:rPr lang="en-US" sz="1488">
                <a:solidFill>
                  <a:srgbClr val="FFFFFF"/>
                </a:solidFill>
                <a:latin typeface="Agrandir"/>
                <a:ea typeface="Agrandir"/>
                <a:cs typeface="Agrandir"/>
                <a:sym typeface="Agrandir"/>
              </a:rPr>
              <a:t>but still u can see the progress in pg no _                          </a:t>
            </a:r>
          </a:p>
        </p:txBody>
      </p:sp>
      <p:sp>
        <p:nvSpPr>
          <p:cNvPr name="TextBox 17" id="17"/>
          <p:cNvSpPr txBox="true"/>
          <p:nvPr/>
        </p:nvSpPr>
        <p:spPr>
          <a:xfrm rot="0">
            <a:off x="10481611" y="6098897"/>
            <a:ext cx="6980072" cy="1533779"/>
          </a:xfrm>
          <a:prstGeom prst="rect">
            <a:avLst/>
          </a:prstGeom>
        </p:spPr>
        <p:txBody>
          <a:bodyPr anchor="t" rtlCol="false" tIns="0" lIns="0" bIns="0" rIns="0">
            <a:spAutoFit/>
          </a:bodyPr>
          <a:lstStyle/>
          <a:p>
            <a:pPr algn="l">
              <a:lnSpc>
                <a:spcPts val="2086"/>
              </a:lnSpc>
            </a:pPr>
            <a:r>
              <a:rPr lang="en-US" sz="1490">
                <a:solidFill>
                  <a:srgbClr val="FFFFFF"/>
                </a:solidFill>
                <a:latin typeface="Canva Sans"/>
                <a:ea typeface="Canva Sans"/>
                <a:cs typeface="Canva Sans"/>
                <a:sym typeface="Canva Sans"/>
              </a:rPr>
              <a:t>  Github also uses UTC not IST</a:t>
            </a:r>
          </a:p>
          <a:p>
            <a:pPr algn="l" marL="321692" indent="-160846" lvl="1">
              <a:lnSpc>
                <a:spcPts val="2086"/>
              </a:lnSpc>
              <a:buFont typeface="Arial"/>
              <a:buChar char="•"/>
            </a:pPr>
            <a:r>
              <a:rPr lang="en-US" sz="1490">
                <a:solidFill>
                  <a:srgbClr val="FFFFFF"/>
                </a:solidFill>
                <a:latin typeface="Canva Sans"/>
                <a:ea typeface="Canva Sans"/>
                <a:cs typeface="Canva Sans"/>
                <a:sym typeface="Canva Sans"/>
              </a:rPr>
              <a:t>I had to import os module in my code</a:t>
            </a:r>
          </a:p>
          <a:p>
            <a:pPr algn="l" marL="321692" indent="-160846" lvl="1">
              <a:lnSpc>
                <a:spcPts val="2086"/>
              </a:lnSpc>
              <a:buFont typeface="Arial"/>
              <a:buChar char="•"/>
            </a:pPr>
            <a:r>
              <a:rPr lang="en-US" sz="1490">
                <a:solidFill>
                  <a:srgbClr val="FFFFFF"/>
                </a:solidFill>
                <a:latin typeface="Canva Sans"/>
                <a:ea typeface="Canva Sans"/>
                <a:cs typeface="Canva Sans"/>
                <a:sym typeface="Canva Sans"/>
              </a:rPr>
              <a:t>github not works for exactly after every 5min as workflow was, see</a:t>
            </a:r>
            <a:r>
              <a:rPr lang="en-US" sz="1490">
                <a:solidFill>
                  <a:srgbClr val="00BF63"/>
                </a:solidFill>
                <a:latin typeface="Canva Sans"/>
                <a:ea typeface="Canva Sans"/>
                <a:cs typeface="Canva Sans"/>
                <a:sym typeface="Canva Sans"/>
              </a:rPr>
              <a:t> fig 3.2</a:t>
            </a:r>
          </a:p>
          <a:p>
            <a:pPr algn="l" marL="321692" indent="-160846" lvl="1">
              <a:lnSpc>
                <a:spcPts val="2086"/>
              </a:lnSpc>
              <a:buFont typeface="Arial"/>
              <a:buChar char="•"/>
            </a:pPr>
            <a:r>
              <a:rPr lang="en-US" sz="1490">
                <a:solidFill>
                  <a:srgbClr val="FFFFFF"/>
                </a:solidFill>
                <a:latin typeface="Canva Sans"/>
                <a:ea typeface="Canva Sans"/>
                <a:cs typeface="Canva Sans"/>
                <a:sym typeface="Canva Sans"/>
              </a:rPr>
              <a:t>and also see the track record for proof.</a:t>
            </a:r>
          </a:p>
          <a:p>
            <a:pPr algn="l" marL="321692" indent="-160846" lvl="1">
              <a:lnSpc>
                <a:spcPts val="2086"/>
              </a:lnSpc>
              <a:buFont typeface="Arial"/>
              <a:buChar char="•"/>
            </a:pPr>
            <a:r>
              <a:rPr lang="en-US" sz="1490">
                <a:solidFill>
                  <a:srgbClr val="FFFFFF"/>
                </a:solidFill>
                <a:latin typeface="Canva Sans"/>
                <a:ea typeface="Canva Sans"/>
                <a:cs typeface="Canva Sans"/>
                <a:sym typeface="Canva Sans"/>
              </a:rPr>
              <a:t> we can’t show apppass in code for security purposes so I stored them in</a:t>
            </a:r>
          </a:p>
          <a:p>
            <a:pPr algn="l" marL="321692" indent="-160846" lvl="1">
              <a:lnSpc>
                <a:spcPts val="2086"/>
              </a:lnSpc>
              <a:buFont typeface="Arial"/>
              <a:buChar char="•"/>
            </a:pPr>
            <a:r>
              <a:rPr lang="en-US" sz="1490">
                <a:solidFill>
                  <a:srgbClr val="FFFFFF"/>
                </a:solidFill>
                <a:latin typeface="Canva Sans"/>
                <a:ea typeface="Canva Sans"/>
                <a:cs typeface="Canva Sans"/>
                <a:sym typeface="Canva Sans"/>
              </a:rPr>
              <a:t>&gt;Setting &gt; Secret and variables &gt; Action and saved emails and Pass secret</a:t>
            </a:r>
          </a:p>
        </p:txBody>
      </p:sp>
      <p:sp>
        <p:nvSpPr>
          <p:cNvPr name="TextBox 18" id="18"/>
          <p:cNvSpPr txBox="true"/>
          <p:nvPr/>
        </p:nvSpPr>
        <p:spPr>
          <a:xfrm rot="0">
            <a:off x="4091695" y="5053671"/>
            <a:ext cx="1342931" cy="354989"/>
          </a:xfrm>
          <a:prstGeom prst="rect">
            <a:avLst/>
          </a:prstGeom>
        </p:spPr>
        <p:txBody>
          <a:bodyPr anchor="t" rtlCol="false" tIns="0" lIns="0" bIns="0" rIns="0">
            <a:spAutoFit/>
          </a:bodyPr>
          <a:lstStyle/>
          <a:p>
            <a:pPr algn="ctr">
              <a:lnSpc>
                <a:spcPts val="2837"/>
              </a:lnSpc>
            </a:pPr>
            <a:r>
              <a:rPr lang="en-US" sz="2026" b="true">
                <a:solidFill>
                  <a:srgbClr val="FFFFFF"/>
                </a:solidFill>
                <a:latin typeface="Canva Sans Bold"/>
                <a:ea typeface="Canva Sans Bold"/>
                <a:cs typeface="Canva Sans Bold"/>
                <a:sym typeface="Canva Sans Bold"/>
              </a:rPr>
              <a:t>fig. 3.2</a:t>
            </a:r>
          </a:p>
        </p:txBody>
      </p:sp>
      <p:sp>
        <p:nvSpPr>
          <p:cNvPr name="TextBox 19" id="19"/>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14</a:t>
            </a:r>
          </a:p>
        </p:txBody>
      </p:sp>
      <p:sp>
        <p:nvSpPr>
          <p:cNvPr name="Freeform 20" id="20"/>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7"/>
            <a:stretch>
              <a:fillRect l="-10785" t="0" r="-10785"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1508093" y="-1922116"/>
            <a:ext cx="9083603" cy="9133421"/>
          </a:xfrm>
          <a:custGeom>
            <a:avLst/>
            <a:gdLst/>
            <a:ahLst/>
            <a:cxnLst/>
            <a:rect r="r" b="b" t="t" l="l"/>
            <a:pathLst>
              <a:path h="9133421" w="9083603">
                <a:moveTo>
                  <a:pt x="9083603" y="0"/>
                </a:moveTo>
                <a:lnTo>
                  <a:pt x="0" y="0"/>
                </a:lnTo>
                <a:lnTo>
                  <a:pt x="0" y="9133422"/>
                </a:lnTo>
                <a:lnTo>
                  <a:pt x="9083603" y="9133422"/>
                </a:lnTo>
                <a:lnTo>
                  <a:pt x="9083603"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2190527" y="6862285"/>
            <a:ext cx="419770" cy="422072"/>
          </a:xfrm>
          <a:custGeom>
            <a:avLst/>
            <a:gdLst/>
            <a:ahLst/>
            <a:cxnLst/>
            <a:rect r="r" b="b" t="t" l="l"/>
            <a:pathLst>
              <a:path h="422072" w="419770">
                <a:moveTo>
                  <a:pt x="419770" y="0"/>
                </a:moveTo>
                <a:lnTo>
                  <a:pt x="0" y="0"/>
                </a:lnTo>
                <a:lnTo>
                  <a:pt x="0" y="422073"/>
                </a:lnTo>
                <a:lnTo>
                  <a:pt x="419770" y="422073"/>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598546" y="3128377"/>
            <a:ext cx="4768872" cy="3486075"/>
            <a:chOff x="0" y="0"/>
            <a:chExt cx="352539" cy="257708"/>
          </a:xfrm>
        </p:grpSpPr>
        <p:sp>
          <p:nvSpPr>
            <p:cNvPr name="Freeform 7" id="7"/>
            <p:cNvSpPr/>
            <p:nvPr/>
          </p:nvSpPr>
          <p:spPr>
            <a:xfrm flipH="false" flipV="false" rot="0">
              <a:off x="0" y="0"/>
              <a:ext cx="352539" cy="257708"/>
            </a:xfrm>
            <a:custGeom>
              <a:avLst/>
              <a:gdLst/>
              <a:ahLst/>
              <a:cxnLst/>
              <a:rect r="r" b="b" t="t" l="l"/>
              <a:pathLst>
                <a:path h="257708" w="352539">
                  <a:moveTo>
                    <a:pt x="37339" y="0"/>
                  </a:moveTo>
                  <a:lnTo>
                    <a:pt x="315200" y="0"/>
                  </a:lnTo>
                  <a:cubicBezTo>
                    <a:pt x="335821" y="0"/>
                    <a:pt x="352539" y="16717"/>
                    <a:pt x="352539" y="37339"/>
                  </a:cubicBezTo>
                  <a:lnTo>
                    <a:pt x="352539" y="220369"/>
                  </a:lnTo>
                  <a:cubicBezTo>
                    <a:pt x="352539" y="230272"/>
                    <a:pt x="348605" y="239769"/>
                    <a:pt x="341602" y="246772"/>
                  </a:cubicBezTo>
                  <a:cubicBezTo>
                    <a:pt x="334600" y="253774"/>
                    <a:pt x="325103" y="257708"/>
                    <a:pt x="315200" y="257708"/>
                  </a:cubicBezTo>
                  <a:lnTo>
                    <a:pt x="37339" y="257708"/>
                  </a:lnTo>
                  <a:cubicBezTo>
                    <a:pt x="16717" y="257708"/>
                    <a:pt x="0" y="240991"/>
                    <a:pt x="0" y="220369"/>
                  </a:cubicBezTo>
                  <a:lnTo>
                    <a:pt x="0" y="37339"/>
                  </a:lnTo>
                  <a:cubicBezTo>
                    <a:pt x="0" y="16717"/>
                    <a:pt x="16717" y="0"/>
                    <a:pt x="37339" y="0"/>
                  </a:cubicBezTo>
                  <a:close/>
                </a:path>
              </a:pathLst>
            </a:custGeom>
            <a:blipFill>
              <a:blip r:embed="rId5"/>
              <a:stretch>
                <a:fillRect l="-28343" t="0" r="-1757" b="0"/>
              </a:stretch>
            </a:blipFill>
            <a:ln w="28575" cap="rnd">
              <a:solidFill>
                <a:srgbClr val="FFA800"/>
              </a:solidFill>
              <a:prstDash val="solid"/>
              <a:round/>
            </a:ln>
          </p:spPr>
        </p:sp>
      </p:grpSp>
      <p:sp>
        <p:nvSpPr>
          <p:cNvPr name="Freeform 8" id="8"/>
          <p:cNvSpPr/>
          <p:nvPr/>
        </p:nvSpPr>
        <p:spPr>
          <a:xfrm flipH="true" flipV="false" rot="0">
            <a:off x="7372810" y="6789233"/>
            <a:ext cx="419770" cy="422072"/>
          </a:xfrm>
          <a:custGeom>
            <a:avLst/>
            <a:gdLst/>
            <a:ahLst/>
            <a:cxnLst/>
            <a:rect r="r" b="b" t="t" l="l"/>
            <a:pathLst>
              <a:path h="422072" w="419770">
                <a:moveTo>
                  <a:pt x="419770" y="0"/>
                </a:moveTo>
                <a:lnTo>
                  <a:pt x="0" y="0"/>
                </a:lnTo>
                <a:lnTo>
                  <a:pt x="0" y="422073"/>
                </a:lnTo>
                <a:lnTo>
                  <a:pt x="419770" y="422073"/>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580141" y="3185864"/>
            <a:ext cx="5170248" cy="3371101"/>
            <a:chOff x="0" y="0"/>
            <a:chExt cx="381822" cy="248955"/>
          </a:xfrm>
        </p:grpSpPr>
        <p:sp>
          <p:nvSpPr>
            <p:cNvPr name="Freeform 10" id="10"/>
            <p:cNvSpPr/>
            <p:nvPr/>
          </p:nvSpPr>
          <p:spPr>
            <a:xfrm flipH="false" flipV="false" rot="0">
              <a:off x="0" y="0"/>
              <a:ext cx="381822" cy="248955"/>
            </a:xfrm>
            <a:custGeom>
              <a:avLst/>
              <a:gdLst/>
              <a:ahLst/>
              <a:cxnLst/>
              <a:rect r="r" b="b" t="t" l="l"/>
              <a:pathLst>
                <a:path h="248955" w="381822">
                  <a:moveTo>
                    <a:pt x="34440" y="0"/>
                  </a:moveTo>
                  <a:lnTo>
                    <a:pt x="347382" y="0"/>
                  </a:lnTo>
                  <a:cubicBezTo>
                    <a:pt x="366403" y="0"/>
                    <a:pt x="381822" y="15419"/>
                    <a:pt x="381822" y="34440"/>
                  </a:cubicBezTo>
                  <a:lnTo>
                    <a:pt x="381822" y="214515"/>
                  </a:lnTo>
                  <a:cubicBezTo>
                    <a:pt x="381822" y="233536"/>
                    <a:pt x="366403" y="248955"/>
                    <a:pt x="347382" y="248955"/>
                  </a:cubicBezTo>
                  <a:lnTo>
                    <a:pt x="34440" y="248955"/>
                  </a:lnTo>
                  <a:cubicBezTo>
                    <a:pt x="15419" y="248955"/>
                    <a:pt x="0" y="233536"/>
                    <a:pt x="0" y="214515"/>
                  </a:cubicBezTo>
                  <a:lnTo>
                    <a:pt x="0" y="34440"/>
                  </a:lnTo>
                  <a:cubicBezTo>
                    <a:pt x="0" y="15419"/>
                    <a:pt x="15419" y="0"/>
                    <a:pt x="34440" y="0"/>
                  </a:cubicBezTo>
                  <a:close/>
                </a:path>
              </a:pathLst>
            </a:custGeom>
            <a:blipFill>
              <a:blip r:embed="rId6"/>
              <a:stretch>
                <a:fillRect l="-15275" t="0" r="-767" b="0"/>
              </a:stretch>
            </a:blipFill>
            <a:ln w="28575" cap="rnd">
              <a:solidFill>
                <a:srgbClr val="FFA800"/>
              </a:solidFill>
              <a:prstDash val="solid"/>
              <a:round/>
            </a:ln>
          </p:spPr>
        </p:sp>
      </p:grpSp>
      <p:sp>
        <p:nvSpPr>
          <p:cNvPr name="Freeform 11" id="11"/>
          <p:cNvSpPr/>
          <p:nvPr/>
        </p:nvSpPr>
        <p:spPr>
          <a:xfrm flipH="true" flipV="false" rot="0">
            <a:off x="12873870" y="6896428"/>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1959939" y="3185864"/>
            <a:ext cx="4806800" cy="3291464"/>
            <a:chOff x="0" y="0"/>
            <a:chExt cx="349030" cy="238999"/>
          </a:xfrm>
        </p:grpSpPr>
        <p:sp>
          <p:nvSpPr>
            <p:cNvPr name="Freeform 13" id="13"/>
            <p:cNvSpPr/>
            <p:nvPr/>
          </p:nvSpPr>
          <p:spPr>
            <a:xfrm flipH="false" flipV="false" rot="0">
              <a:off x="0" y="0"/>
              <a:ext cx="349030" cy="238999"/>
            </a:xfrm>
            <a:custGeom>
              <a:avLst/>
              <a:gdLst/>
              <a:ahLst/>
              <a:cxnLst/>
              <a:rect r="r" b="b" t="t" l="l"/>
              <a:pathLst>
                <a:path h="238999" w="349030">
                  <a:moveTo>
                    <a:pt x="37044" y="0"/>
                  </a:moveTo>
                  <a:lnTo>
                    <a:pt x="311985" y="0"/>
                  </a:lnTo>
                  <a:cubicBezTo>
                    <a:pt x="332444" y="0"/>
                    <a:pt x="349030" y="16585"/>
                    <a:pt x="349030" y="37044"/>
                  </a:cubicBezTo>
                  <a:lnTo>
                    <a:pt x="349030" y="201954"/>
                  </a:lnTo>
                  <a:cubicBezTo>
                    <a:pt x="349030" y="211779"/>
                    <a:pt x="345127" y="221201"/>
                    <a:pt x="338180" y="228149"/>
                  </a:cubicBezTo>
                  <a:cubicBezTo>
                    <a:pt x="331232" y="235096"/>
                    <a:pt x="321810" y="238999"/>
                    <a:pt x="311985" y="238999"/>
                  </a:cubicBezTo>
                  <a:lnTo>
                    <a:pt x="37044" y="238999"/>
                  </a:lnTo>
                  <a:cubicBezTo>
                    <a:pt x="27219" y="238999"/>
                    <a:pt x="17797" y="235096"/>
                    <a:pt x="10850" y="228149"/>
                  </a:cubicBezTo>
                  <a:cubicBezTo>
                    <a:pt x="3903" y="221201"/>
                    <a:pt x="0" y="211779"/>
                    <a:pt x="0" y="201954"/>
                  </a:cubicBezTo>
                  <a:lnTo>
                    <a:pt x="0" y="37044"/>
                  </a:lnTo>
                  <a:cubicBezTo>
                    <a:pt x="0" y="27219"/>
                    <a:pt x="3903" y="17797"/>
                    <a:pt x="10850" y="10850"/>
                  </a:cubicBezTo>
                  <a:cubicBezTo>
                    <a:pt x="17797" y="3903"/>
                    <a:pt x="27219" y="0"/>
                    <a:pt x="37044" y="0"/>
                  </a:cubicBezTo>
                  <a:close/>
                </a:path>
              </a:pathLst>
            </a:custGeom>
            <a:blipFill>
              <a:blip r:embed="rId7"/>
              <a:stretch>
                <a:fillRect l="-27672" t="-2380" r="0" b="-2380"/>
              </a:stretch>
            </a:blipFill>
            <a:ln w="28575" cap="rnd">
              <a:solidFill>
                <a:srgbClr val="FFA800"/>
              </a:solidFill>
              <a:prstDash val="solid"/>
              <a:round/>
            </a:ln>
          </p:spPr>
        </p:sp>
      </p:grpSp>
      <p:sp>
        <p:nvSpPr>
          <p:cNvPr name="TextBox 14" id="14"/>
          <p:cNvSpPr txBox="true"/>
          <p:nvPr/>
        </p:nvSpPr>
        <p:spPr>
          <a:xfrm rot="0">
            <a:off x="10627636" y="597092"/>
            <a:ext cx="3101339" cy="1378274"/>
          </a:xfrm>
          <a:prstGeom prst="rect">
            <a:avLst/>
          </a:prstGeom>
        </p:spPr>
        <p:txBody>
          <a:bodyPr anchor="t" rtlCol="false" tIns="0" lIns="0" bIns="0" rIns="0">
            <a:spAutoFit/>
          </a:bodyPr>
          <a:lstStyle/>
          <a:p>
            <a:pPr algn="l">
              <a:lnSpc>
                <a:spcPts val="9709"/>
              </a:lnSpc>
              <a:spcBef>
                <a:spcPct val="0"/>
              </a:spcBef>
            </a:pPr>
            <a:r>
              <a:rPr lang="en-US" sz="6935">
                <a:solidFill>
                  <a:srgbClr val="FFA800"/>
                </a:solidFill>
                <a:latin typeface="Agrandir"/>
                <a:ea typeface="Agrandir"/>
                <a:cs typeface="Agrandir"/>
                <a:sym typeface="Agrandir"/>
              </a:rPr>
              <a:t>record </a:t>
            </a:r>
          </a:p>
        </p:txBody>
      </p:sp>
      <p:sp>
        <p:nvSpPr>
          <p:cNvPr name="TextBox 15" id="15"/>
          <p:cNvSpPr txBox="true"/>
          <p:nvPr/>
        </p:nvSpPr>
        <p:spPr>
          <a:xfrm rot="0">
            <a:off x="5006955" y="665082"/>
            <a:ext cx="5417138"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github track</a:t>
            </a:r>
          </a:p>
        </p:txBody>
      </p:sp>
      <p:sp>
        <p:nvSpPr>
          <p:cNvPr name="TextBox 16" id="16"/>
          <p:cNvSpPr txBox="true"/>
          <p:nvPr/>
        </p:nvSpPr>
        <p:spPr>
          <a:xfrm rot="0">
            <a:off x="2947563" y="6810757"/>
            <a:ext cx="2827874"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fig3.11</a:t>
            </a:r>
          </a:p>
        </p:txBody>
      </p:sp>
      <p:sp>
        <p:nvSpPr>
          <p:cNvPr name="TextBox 17" id="17"/>
          <p:cNvSpPr txBox="true"/>
          <p:nvPr/>
        </p:nvSpPr>
        <p:spPr>
          <a:xfrm rot="0">
            <a:off x="8129846" y="6737705"/>
            <a:ext cx="2827874"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fig3.12</a:t>
            </a:r>
          </a:p>
        </p:txBody>
      </p:sp>
      <p:sp>
        <p:nvSpPr>
          <p:cNvPr name="TextBox 18" id="18"/>
          <p:cNvSpPr txBox="true"/>
          <p:nvPr/>
        </p:nvSpPr>
        <p:spPr>
          <a:xfrm rot="0">
            <a:off x="13630907" y="6844900"/>
            <a:ext cx="2827874"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figg3.14</a:t>
            </a:r>
          </a:p>
        </p:txBody>
      </p:sp>
      <p:sp>
        <p:nvSpPr>
          <p:cNvPr name="TextBox 19" id="19"/>
          <p:cNvSpPr txBox="true"/>
          <p:nvPr/>
        </p:nvSpPr>
        <p:spPr>
          <a:xfrm rot="0">
            <a:off x="1071230" y="7642323"/>
            <a:ext cx="16188070" cy="1012189"/>
          </a:xfrm>
          <a:prstGeom prst="rect">
            <a:avLst/>
          </a:prstGeom>
        </p:spPr>
        <p:txBody>
          <a:bodyPr anchor="t" rtlCol="false" tIns="0" lIns="0" bIns="0" rIns="0">
            <a:spAutoFit/>
          </a:bodyPr>
          <a:lstStyle/>
          <a:p>
            <a:pPr algn="ctr">
              <a:lnSpc>
                <a:spcPts val="4060"/>
              </a:lnSpc>
            </a:pPr>
            <a:r>
              <a:rPr lang="en-US" sz="2900">
                <a:solidFill>
                  <a:srgbClr val="FFFFFF"/>
                </a:solidFill>
                <a:latin typeface="Canva Sans"/>
                <a:ea typeface="Canva Sans"/>
                <a:cs typeface="Canva Sans"/>
                <a:sym typeface="Canva Sans"/>
              </a:rPr>
              <a:t>we can see sometime we have lag of more that 20min which if occurs and our email sending point belongs to that interval then we will miss that class  this also one drawback </a:t>
            </a:r>
          </a:p>
        </p:txBody>
      </p:sp>
      <p:sp>
        <p:nvSpPr>
          <p:cNvPr name="TextBox 20" id="20"/>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15</a:t>
            </a:r>
          </a:p>
        </p:txBody>
      </p:sp>
      <p:sp>
        <p:nvSpPr>
          <p:cNvPr name="Freeform 21" id="21"/>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8"/>
            <a:stretch>
              <a:fillRect l="-10785" t="0" r="-10785"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1508093" y="-1922116"/>
            <a:ext cx="9083603" cy="9133421"/>
          </a:xfrm>
          <a:custGeom>
            <a:avLst/>
            <a:gdLst/>
            <a:ahLst/>
            <a:cxnLst/>
            <a:rect r="r" b="b" t="t" l="l"/>
            <a:pathLst>
              <a:path h="9133421" w="9083603">
                <a:moveTo>
                  <a:pt x="9083603" y="0"/>
                </a:moveTo>
                <a:lnTo>
                  <a:pt x="0" y="0"/>
                </a:lnTo>
                <a:lnTo>
                  <a:pt x="0" y="9133422"/>
                </a:lnTo>
                <a:lnTo>
                  <a:pt x="9083603" y="9133422"/>
                </a:lnTo>
                <a:lnTo>
                  <a:pt x="9083603"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978794" y="685359"/>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2129018" y="8075036"/>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2436335" y="3156667"/>
            <a:ext cx="2680641" cy="4777292"/>
            <a:chOff x="0" y="0"/>
            <a:chExt cx="287501" cy="512369"/>
          </a:xfrm>
        </p:grpSpPr>
        <p:sp>
          <p:nvSpPr>
            <p:cNvPr name="Freeform 7" id="7"/>
            <p:cNvSpPr/>
            <p:nvPr/>
          </p:nvSpPr>
          <p:spPr>
            <a:xfrm flipH="false" flipV="false" rot="0">
              <a:off x="0" y="0"/>
              <a:ext cx="287501" cy="512369"/>
            </a:xfrm>
            <a:custGeom>
              <a:avLst/>
              <a:gdLst/>
              <a:ahLst/>
              <a:cxnLst/>
              <a:rect r="r" b="b" t="t" l="l"/>
              <a:pathLst>
                <a:path h="512369" w="287501">
                  <a:moveTo>
                    <a:pt x="66426" y="0"/>
                  </a:moveTo>
                  <a:lnTo>
                    <a:pt x="221075" y="0"/>
                  </a:lnTo>
                  <a:cubicBezTo>
                    <a:pt x="257761" y="0"/>
                    <a:pt x="287501" y="29740"/>
                    <a:pt x="287501" y="66426"/>
                  </a:cubicBezTo>
                  <a:lnTo>
                    <a:pt x="287501" y="445943"/>
                  </a:lnTo>
                  <a:cubicBezTo>
                    <a:pt x="287501" y="482629"/>
                    <a:pt x="257761" y="512369"/>
                    <a:pt x="221075" y="512369"/>
                  </a:cubicBezTo>
                  <a:lnTo>
                    <a:pt x="66426" y="512369"/>
                  </a:lnTo>
                  <a:cubicBezTo>
                    <a:pt x="29740" y="512369"/>
                    <a:pt x="0" y="482629"/>
                    <a:pt x="0" y="445943"/>
                  </a:cubicBezTo>
                  <a:lnTo>
                    <a:pt x="0" y="66426"/>
                  </a:lnTo>
                  <a:cubicBezTo>
                    <a:pt x="0" y="29740"/>
                    <a:pt x="29740" y="0"/>
                    <a:pt x="66426" y="0"/>
                  </a:cubicBezTo>
                  <a:close/>
                </a:path>
              </a:pathLst>
            </a:custGeom>
            <a:blipFill>
              <a:blip r:embed="rId5"/>
              <a:stretch>
                <a:fillRect l="0" t="-10991" r="0" b="-10991"/>
              </a:stretch>
            </a:blipFill>
            <a:ln w="28575" cap="rnd">
              <a:solidFill>
                <a:srgbClr val="FFA800"/>
              </a:solidFill>
              <a:prstDash val="solid"/>
              <a:round/>
            </a:ln>
          </p:spPr>
        </p:sp>
      </p:grpSp>
      <p:sp>
        <p:nvSpPr>
          <p:cNvPr name="Freeform 8" id="8"/>
          <p:cNvSpPr/>
          <p:nvPr/>
        </p:nvSpPr>
        <p:spPr>
          <a:xfrm flipH="true" flipV="false" rot="0">
            <a:off x="5898988" y="8128283"/>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6235190" y="3156667"/>
            <a:ext cx="2680641" cy="4777292"/>
            <a:chOff x="0" y="0"/>
            <a:chExt cx="287501" cy="512369"/>
          </a:xfrm>
        </p:grpSpPr>
        <p:sp>
          <p:nvSpPr>
            <p:cNvPr name="Freeform 10" id="10"/>
            <p:cNvSpPr/>
            <p:nvPr/>
          </p:nvSpPr>
          <p:spPr>
            <a:xfrm flipH="false" flipV="false" rot="0">
              <a:off x="0" y="0"/>
              <a:ext cx="287501" cy="512369"/>
            </a:xfrm>
            <a:custGeom>
              <a:avLst/>
              <a:gdLst/>
              <a:ahLst/>
              <a:cxnLst/>
              <a:rect r="r" b="b" t="t" l="l"/>
              <a:pathLst>
                <a:path h="512369" w="287501">
                  <a:moveTo>
                    <a:pt x="66426" y="0"/>
                  </a:moveTo>
                  <a:lnTo>
                    <a:pt x="221075" y="0"/>
                  </a:lnTo>
                  <a:cubicBezTo>
                    <a:pt x="257761" y="0"/>
                    <a:pt x="287501" y="29740"/>
                    <a:pt x="287501" y="66426"/>
                  </a:cubicBezTo>
                  <a:lnTo>
                    <a:pt x="287501" y="445943"/>
                  </a:lnTo>
                  <a:cubicBezTo>
                    <a:pt x="287501" y="482629"/>
                    <a:pt x="257761" y="512369"/>
                    <a:pt x="221075" y="512369"/>
                  </a:cubicBezTo>
                  <a:lnTo>
                    <a:pt x="66426" y="512369"/>
                  </a:lnTo>
                  <a:cubicBezTo>
                    <a:pt x="29740" y="512369"/>
                    <a:pt x="0" y="482629"/>
                    <a:pt x="0" y="445943"/>
                  </a:cubicBezTo>
                  <a:lnTo>
                    <a:pt x="0" y="66426"/>
                  </a:lnTo>
                  <a:cubicBezTo>
                    <a:pt x="0" y="29740"/>
                    <a:pt x="29740" y="0"/>
                    <a:pt x="66426" y="0"/>
                  </a:cubicBezTo>
                  <a:close/>
                </a:path>
              </a:pathLst>
            </a:custGeom>
            <a:blipFill>
              <a:blip r:embed="rId6"/>
              <a:stretch>
                <a:fillRect l="0" t="-10991" r="0" b="-10991"/>
              </a:stretch>
            </a:blipFill>
            <a:ln w="28575" cap="rnd">
              <a:solidFill>
                <a:srgbClr val="FFA800"/>
              </a:solidFill>
              <a:prstDash val="solid"/>
              <a:round/>
            </a:ln>
          </p:spPr>
        </p:sp>
      </p:grpSp>
      <p:sp>
        <p:nvSpPr>
          <p:cNvPr name="Freeform 11" id="11"/>
          <p:cNvSpPr/>
          <p:nvPr/>
        </p:nvSpPr>
        <p:spPr>
          <a:xfrm flipH="true" flipV="false" rot="0">
            <a:off x="9664873" y="8181530"/>
            <a:ext cx="419770" cy="422072"/>
          </a:xfrm>
          <a:custGeom>
            <a:avLst/>
            <a:gdLst/>
            <a:ahLst/>
            <a:cxnLst/>
            <a:rect r="r" b="b" t="t" l="l"/>
            <a:pathLst>
              <a:path h="422072" w="419770">
                <a:moveTo>
                  <a:pt x="419771" y="0"/>
                </a:moveTo>
                <a:lnTo>
                  <a:pt x="0" y="0"/>
                </a:lnTo>
                <a:lnTo>
                  <a:pt x="0" y="422072"/>
                </a:lnTo>
                <a:lnTo>
                  <a:pt x="419771" y="422072"/>
                </a:lnTo>
                <a:lnTo>
                  <a:pt x="4197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0088728" y="3156667"/>
            <a:ext cx="2680641" cy="4777292"/>
            <a:chOff x="0" y="0"/>
            <a:chExt cx="287501" cy="512369"/>
          </a:xfrm>
        </p:grpSpPr>
        <p:sp>
          <p:nvSpPr>
            <p:cNvPr name="Freeform 13" id="13"/>
            <p:cNvSpPr/>
            <p:nvPr/>
          </p:nvSpPr>
          <p:spPr>
            <a:xfrm flipH="false" flipV="false" rot="0">
              <a:off x="0" y="0"/>
              <a:ext cx="287501" cy="512369"/>
            </a:xfrm>
            <a:custGeom>
              <a:avLst/>
              <a:gdLst/>
              <a:ahLst/>
              <a:cxnLst/>
              <a:rect r="r" b="b" t="t" l="l"/>
              <a:pathLst>
                <a:path h="512369" w="287501">
                  <a:moveTo>
                    <a:pt x="66426" y="0"/>
                  </a:moveTo>
                  <a:lnTo>
                    <a:pt x="221075" y="0"/>
                  </a:lnTo>
                  <a:cubicBezTo>
                    <a:pt x="257761" y="0"/>
                    <a:pt x="287501" y="29740"/>
                    <a:pt x="287501" y="66426"/>
                  </a:cubicBezTo>
                  <a:lnTo>
                    <a:pt x="287501" y="445943"/>
                  </a:lnTo>
                  <a:cubicBezTo>
                    <a:pt x="287501" y="482629"/>
                    <a:pt x="257761" y="512369"/>
                    <a:pt x="221075" y="512369"/>
                  </a:cubicBezTo>
                  <a:lnTo>
                    <a:pt x="66426" y="512369"/>
                  </a:lnTo>
                  <a:cubicBezTo>
                    <a:pt x="29740" y="512369"/>
                    <a:pt x="0" y="482629"/>
                    <a:pt x="0" y="445943"/>
                  </a:cubicBezTo>
                  <a:lnTo>
                    <a:pt x="0" y="66426"/>
                  </a:lnTo>
                  <a:cubicBezTo>
                    <a:pt x="0" y="29740"/>
                    <a:pt x="29740" y="0"/>
                    <a:pt x="66426" y="0"/>
                  </a:cubicBezTo>
                  <a:close/>
                </a:path>
              </a:pathLst>
            </a:custGeom>
            <a:blipFill>
              <a:blip r:embed="rId7"/>
              <a:stretch>
                <a:fillRect l="0" t="-10991" r="0" b="-10991"/>
              </a:stretch>
            </a:blipFill>
            <a:ln w="28575" cap="rnd">
              <a:solidFill>
                <a:srgbClr val="FFA800"/>
              </a:solidFill>
              <a:prstDash val="solid"/>
              <a:round/>
            </a:ln>
          </p:spPr>
        </p:sp>
      </p:grpSp>
      <p:sp>
        <p:nvSpPr>
          <p:cNvPr name="Freeform 14" id="14"/>
          <p:cNvSpPr/>
          <p:nvPr/>
        </p:nvSpPr>
        <p:spPr>
          <a:xfrm flipH="true" flipV="false" rot="0">
            <a:off x="13430759" y="8234777"/>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3742765" y="3156667"/>
            <a:ext cx="2680641" cy="4777292"/>
            <a:chOff x="0" y="0"/>
            <a:chExt cx="287501" cy="512369"/>
          </a:xfrm>
        </p:grpSpPr>
        <p:sp>
          <p:nvSpPr>
            <p:cNvPr name="Freeform 16" id="16"/>
            <p:cNvSpPr/>
            <p:nvPr/>
          </p:nvSpPr>
          <p:spPr>
            <a:xfrm flipH="false" flipV="false" rot="0">
              <a:off x="0" y="0"/>
              <a:ext cx="287501" cy="512369"/>
            </a:xfrm>
            <a:custGeom>
              <a:avLst/>
              <a:gdLst/>
              <a:ahLst/>
              <a:cxnLst/>
              <a:rect r="r" b="b" t="t" l="l"/>
              <a:pathLst>
                <a:path h="512369" w="287501">
                  <a:moveTo>
                    <a:pt x="66426" y="0"/>
                  </a:moveTo>
                  <a:lnTo>
                    <a:pt x="221075" y="0"/>
                  </a:lnTo>
                  <a:cubicBezTo>
                    <a:pt x="257761" y="0"/>
                    <a:pt x="287501" y="29740"/>
                    <a:pt x="287501" y="66426"/>
                  </a:cubicBezTo>
                  <a:lnTo>
                    <a:pt x="287501" y="445943"/>
                  </a:lnTo>
                  <a:cubicBezTo>
                    <a:pt x="287501" y="482629"/>
                    <a:pt x="257761" y="512369"/>
                    <a:pt x="221075" y="512369"/>
                  </a:cubicBezTo>
                  <a:lnTo>
                    <a:pt x="66426" y="512369"/>
                  </a:lnTo>
                  <a:cubicBezTo>
                    <a:pt x="29740" y="512369"/>
                    <a:pt x="0" y="482629"/>
                    <a:pt x="0" y="445943"/>
                  </a:cubicBezTo>
                  <a:lnTo>
                    <a:pt x="0" y="66426"/>
                  </a:lnTo>
                  <a:cubicBezTo>
                    <a:pt x="0" y="29740"/>
                    <a:pt x="29740" y="0"/>
                    <a:pt x="66426" y="0"/>
                  </a:cubicBezTo>
                  <a:close/>
                </a:path>
              </a:pathLst>
            </a:custGeom>
            <a:blipFill>
              <a:blip r:embed="rId8"/>
              <a:stretch>
                <a:fillRect l="0" t="-10991" r="0" b="-10991"/>
              </a:stretch>
            </a:blipFill>
            <a:ln w="28575" cap="rnd">
              <a:solidFill>
                <a:srgbClr val="FFA800"/>
              </a:solidFill>
              <a:prstDash val="solid"/>
              <a:round/>
            </a:ln>
          </p:spPr>
        </p:sp>
      </p:grpSp>
      <p:sp>
        <p:nvSpPr>
          <p:cNvPr name="TextBox 17" id="17"/>
          <p:cNvSpPr txBox="true"/>
          <p:nvPr/>
        </p:nvSpPr>
        <p:spPr>
          <a:xfrm rot="0">
            <a:off x="7158230" y="1266320"/>
            <a:ext cx="3971539"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Progre</a:t>
            </a:r>
            <a:r>
              <a:rPr lang="en-US" sz="6935">
                <a:solidFill>
                  <a:srgbClr val="FFFFFF"/>
                </a:solidFill>
                <a:latin typeface="Agrandir"/>
                <a:ea typeface="Agrandir"/>
                <a:cs typeface="Agrandir"/>
                <a:sym typeface="Agrandir"/>
              </a:rPr>
              <a:t>ss</a:t>
            </a:r>
          </a:p>
        </p:txBody>
      </p:sp>
      <p:sp>
        <p:nvSpPr>
          <p:cNvPr name="TextBox 18" id="18"/>
          <p:cNvSpPr txBox="true"/>
          <p:nvPr/>
        </p:nvSpPr>
        <p:spPr>
          <a:xfrm rot="0">
            <a:off x="2886055" y="8023508"/>
            <a:ext cx="2827874"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fig3.11</a:t>
            </a:r>
          </a:p>
        </p:txBody>
      </p:sp>
      <p:sp>
        <p:nvSpPr>
          <p:cNvPr name="TextBox 19" id="19"/>
          <p:cNvSpPr txBox="true"/>
          <p:nvPr/>
        </p:nvSpPr>
        <p:spPr>
          <a:xfrm rot="0">
            <a:off x="6656025" y="8076755"/>
            <a:ext cx="2827874"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fig3.12</a:t>
            </a:r>
          </a:p>
        </p:txBody>
      </p:sp>
      <p:sp>
        <p:nvSpPr>
          <p:cNvPr name="TextBox 20" id="20"/>
          <p:cNvSpPr txBox="true"/>
          <p:nvPr/>
        </p:nvSpPr>
        <p:spPr>
          <a:xfrm rot="0">
            <a:off x="10421910" y="8130002"/>
            <a:ext cx="2827874"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fig3.13</a:t>
            </a:r>
          </a:p>
        </p:txBody>
      </p:sp>
      <p:sp>
        <p:nvSpPr>
          <p:cNvPr name="TextBox 21" id="21"/>
          <p:cNvSpPr txBox="true"/>
          <p:nvPr/>
        </p:nvSpPr>
        <p:spPr>
          <a:xfrm rot="0">
            <a:off x="14187795" y="8183249"/>
            <a:ext cx="2827874" cy="439458"/>
          </a:xfrm>
          <a:prstGeom prst="rect">
            <a:avLst/>
          </a:prstGeom>
        </p:spPr>
        <p:txBody>
          <a:bodyPr anchor="t" rtlCol="false" tIns="0" lIns="0" bIns="0" rIns="0">
            <a:spAutoFit/>
          </a:bodyPr>
          <a:lstStyle/>
          <a:p>
            <a:pPr algn="l">
              <a:lnSpc>
                <a:spcPts val="3079"/>
              </a:lnSpc>
              <a:spcBef>
                <a:spcPct val="0"/>
              </a:spcBef>
            </a:pPr>
            <a:r>
              <a:rPr lang="en-US" sz="2199">
                <a:solidFill>
                  <a:srgbClr val="FFA800"/>
                </a:solidFill>
                <a:latin typeface="Agrandir"/>
                <a:ea typeface="Agrandir"/>
                <a:cs typeface="Agrandir"/>
                <a:sym typeface="Agrandir"/>
              </a:rPr>
              <a:t>fig3.14</a:t>
            </a:r>
          </a:p>
        </p:txBody>
      </p:sp>
      <p:sp>
        <p:nvSpPr>
          <p:cNvPr name="TextBox 22" id="22"/>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16</a:t>
            </a:r>
          </a:p>
        </p:txBody>
      </p:sp>
      <p:sp>
        <p:nvSpPr>
          <p:cNvPr name="Freeform 23" id="23"/>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9"/>
            <a:stretch>
              <a:fillRect l="-10785" t="0" r="-10785"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true" flipV="false" rot="0">
            <a:off x="-3735184" y="-1776012"/>
            <a:ext cx="9980271" cy="10035008"/>
          </a:xfrm>
          <a:custGeom>
            <a:avLst/>
            <a:gdLst/>
            <a:ahLst/>
            <a:cxnLst/>
            <a:rect r="r" b="b" t="t" l="l"/>
            <a:pathLst>
              <a:path h="10035008" w="9980271">
                <a:moveTo>
                  <a:pt x="9980271" y="0"/>
                </a:moveTo>
                <a:lnTo>
                  <a:pt x="0" y="0"/>
                </a:lnTo>
                <a:lnTo>
                  <a:pt x="0" y="10035007"/>
                </a:lnTo>
                <a:lnTo>
                  <a:pt x="9980271" y="10035007"/>
                </a:lnTo>
                <a:lnTo>
                  <a:pt x="9980271"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3570029" y="5143500"/>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alphaModFix amt="1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9587210" y="-103783"/>
            <a:ext cx="9980271" cy="10035008"/>
          </a:xfrm>
          <a:custGeom>
            <a:avLst/>
            <a:gdLst/>
            <a:ahLst/>
            <a:cxnLst/>
            <a:rect r="r" b="b" t="t" l="l"/>
            <a:pathLst>
              <a:path h="10035008" w="9980271">
                <a:moveTo>
                  <a:pt x="9980272" y="0"/>
                </a:moveTo>
                <a:lnTo>
                  <a:pt x="0" y="0"/>
                </a:lnTo>
                <a:lnTo>
                  <a:pt x="0" y="10035008"/>
                </a:lnTo>
                <a:lnTo>
                  <a:pt x="9980272" y="10035008"/>
                </a:lnTo>
                <a:lnTo>
                  <a:pt x="9980272" y="0"/>
                </a:lnTo>
                <a:close/>
              </a:path>
            </a:pathLst>
          </a:custGeom>
          <a:blipFill>
            <a:blip r:embed="rId3">
              <a:alphaModFix amt="34000"/>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654020" y="1522093"/>
            <a:ext cx="6489980" cy="1378274"/>
          </a:xfrm>
          <a:prstGeom prst="rect">
            <a:avLst/>
          </a:prstGeom>
        </p:spPr>
        <p:txBody>
          <a:bodyPr anchor="t" rtlCol="false" tIns="0" lIns="0" bIns="0" rIns="0">
            <a:spAutoFit/>
          </a:bodyPr>
          <a:lstStyle/>
          <a:p>
            <a:pPr algn="l">
              <a:lnSpc>
                <a:spcPts val="9709"/>
              </a:lnSpc>
              <a:spcBef>
                <a:spcPct val="0"/>
              </a:spcBef>
            </a:pPr>
            <a:r>
              <a:rPr lang="en-US" sz="6935">
                <a:solidFill>
                  <a:srgbClr val="FFFFFF"/>
                </a:solidFill>
                <a:latin typeface="Agrandir"/>
                <a:ea typeface="Agrandir"/>
                <a:cs typeface="Agrandir"/>
                <a:sym typeface="Agrandir"/>
              </a:rPr>
              <a:t>FINAL</a:t>
            </a:r>
          </a:p>
        </p:txBody>
      </p:sp>
      <p:sp>
        <p:nvSpPr>
          <p:cNvPr name="TextBox 7" id="7"/>
          <p:cNvSpPr txBox="true"/>
          <p:nvPr/>
        </p:nvSpPr>
        <p:spPr>
          <a:xfrm rot="0">
            <a:off x="2654020" y="2285289"/>
            <a:ext cx="6489980" cy="1378274"/>
          </a:xfrm>
          <a:prstGeom prst="rect">
            <a:avLst/>
          </a:prstGeom>
        </p:spPr>
        <p:txBody>
          <a:bodyPr anchor="t" rtlCol="false" tIns="0" lIns="0" bIns="0" rIns="0">
            <a:spAutoFit/>
          </a:bodyPr>
          <a:lstStyle/>
          <a:p>
            <a:pPr algn="l">
              <a:lnSpc>
                <a:spcPts val="9709"/>
              </a:lnSpc>
              <a:spcBef>
                <a:spcPct val="0"/>
              </a:spcBef>
            </a:pPr>
            <a:r>
              <a:rPr lang="en-US" sz="6935" b="true">
                <a:solidFill>
                  <a:srgbClr val="FFA800"/>
                </a:solidFill>
                <a:latin typeface="Agrandir Bold"/>
                <a:ea typeface="Agrandir Bold"/>
                <a:cs typeface="Agrandir Bold"/>
                <a:sym typeface="Agrandir Bold"/>
              </a:rPr>
              <a:t>CONCLUSION</a:t>
            </a:r>
          </a:p>
        </p:txBody>
      </p:sp>
      <p:grpSp>
        <p:nvGrpSpPr>
          <p:cNvPr name="Group 8" id="8"/>
          <p:cNvGrpSpPr/>
          <p:nvPr/>
        </p:nvGrpSpPr>
        <p:grpSpPr>
          <a:xfrm rot="0">
            <a:off x="2359690" y="3759371"/>
            <a:ext cx="4931408" cy="1154350"/>
            <a:chOff x="0" y="0"/>
            <a:chExt cx="1408594" cy="329725"/>
          </a:xfrm>
        </p:grpSpPr>
        <p:sp>
          <p:nvSpPr>
            <p:cNvPr name="Freeform 9" id="9"/>
            <p:cNvSpPr/>
            <p:nvPr/>
          </p:nvSpPr>
          <p:spPr>
            <a:xfrm flipH="false" flipV="false" rot="0">
              <a:off x="0" y="0"/>
              <a:ext cx="1408594" cy="329725"/>
            </a:xfrm>
            <a:custGeom>
              <a:avLst/>
              <a:gdLst/>
              <a:ahLst/>
              <a:cxnLst/>
              <a:rect r="r" b="b" t="t" l="l"/>
              <a:pathLst>
                <a:path h="329725" w="1408594">
                  <a:moveTo>
                    <a:pt x="36108" y="0"/>
                  </a:moveTo>
                  <a:lnTo>
                    <a:pt x="1372486" y="0"/>
                  </a:lnTo>
                  <a:cubicBezTo>
                    <a:pt x="1392428" y="0"/>
                    <a:pt x="1408594" y="16166"/>
                    <a:pt x="1408594" y="36108"/>
                  </a:cubicBezTo>
                  <a:lnTo>
                    <a:pt x="1408594" y="293617"/>
                  </a:lnTo>
                  <a:cubicBezTo>
                    <a:pt x="1408594" y="303194"/>
                    <a:pt x="1404790" y="312378"/>
                    <a:pt x="1398018" y="319149"/>
                  </a:cubicBezTo>
                  <a:cubicBezTo>
                    <a:pt x="1391247" y="325921"/>
                    <a:pt x="1382062" y="329725"/>
                    <a:pt x="1372486" y="329725"/>
                  </a:cubicBezTo>
                  <a:lnTo>
                    <a:pt x="36108" y="329725"/>
                  </a:lnTo>
                  <a:cubicBezTo>
                    <a:pt x="16166" y="329725"/>
                    <a:pt x="0" y="313559"/>
                    <a:pt x="0" y="293617"/>
                  </a:cubicBezTo>
                  <a:lnTo>
                    <a:pt x="0" y="36108"/>
                  </a:lnTo>
                  <a:cubicBezTo>
                    <a:pt x="0" y="16166"/>
                    <a:pt x="16166" y="0"/>
                    <a:pt x="36108" y="0"/>
                  </a:cubicBezTo>
                  <a:close/>
                </a:path>
              </a:pathLst>
            </a:custGeom>
            <a:blipFill>
              <a:blip r:embed="rId5"/>
              <a:stretch>
                <a:fillRect l="0" t="-4468" r="0" b="-4468"/>
              </a:stretch>
            </a:blipFill>
            <a:ln w="28575" cap="rnd">
              <a:solidFill>
                <a:srgbClr val="FFA800"/>
              </a:solidFill>
              <a:prstDash val="solid"/>
              <a:round/>
            </a:ln>
          </p:spPr>
        </p:sp>
      </p:grpSp>
      <p:sp>
        <p:nvSpPr>
          <p:cNvPr name="Freeform 10" id="10"/>
          <p:cNvSpPr/>
          <p:nvPr/>
        </p:nvSpPr>
        <p:spPr>
          <a:xfrm flipH="true" flipV="false" rot="0">
            <a:off x="10066560" y="3241491"/>
            <a:ext cx="419770" cy="422072"/>
          </a:xfrm>
          <a:custGeom>
            <a:avLst/>
            <a:gdLst/>
            <a:ahLst/>
            <a:cxnLst/>
            <a:rect r="r" b="b" t="t" l="l"/>
            <a:pathLst>
              <a:path h="422072" w="419770">
                <a:moveTo>
                  <a:pt x="419770" y="0"/>
                </a:moveTo>
                <a:lnTo>
                  <a:pt x="0" y="0"/>
                </a:lnTo>
                <a:lnTo>
                  <a:pt x="0" y="422073"/>
                </a:lnTo>
                <a:lnTo>
                  <a:pt x="419770" y="422073"/>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0823597" y="3186060"/>
            <a:ext cx="4614148" cy="567017"/>
          </a:xfrm>
          <a:prstGeom prst="rect">
            <a:avLst/>
          </a:prstGeom>
        </p:spPr>
        <p:txBody>
          <a:bodyPr anchor="t" rtlCol="false" tIns="0" lIns="0" bIns="0" rIns="0">
            <a:spAutoFit/>
          </a:bodyPr>
          <a:lstStyle/>
          <a:p>
            <a:pPr algn="l">
              <a:lnSpc>
                <a:spcPts val="3919"/>
              </a:lnSpc>
              <a:spcBef>
                <a:spcPct val="0"/>
              </a:spcBef>
            </a:pPr>
            <a:r>
              <a:rPr lang="en-US" sz="2799">
                <a:solidFill>
                  <a:srgbClr val="FFA800"/>
                </a:solidFill>
                <a:latin typeface="Agrandir"/>
                <a:ea typeface="Agrandir"/>
                <a:cs typeface="Agrandir"/>
                <a:sym typeface="Agrandir"/>
              </a:rPr>
              <a:t>PythonAnywhere</a:t>
            </a:r>
          </a:p>
        </p:txBody>
      </p:sp>
      <p:sp>
        <p:nvSpPr>
          <p:cNvPr name="TextBox 12" id="12"/>
          <p:cNvSpPr txBox="true"/>
          <p:nvPr/>
        </p:nvSpPr>
        <p:spPr>
          <a:xfrm rot="0">
            <a:off x="10823597" y="3758705"/>
            <a:ext cx="5787736" cy="775697"/>
          </a:xfrm>
          <a:prstGeom prst="rect">
            <a:avLst/>
          </a:prstGeom>
        </p:spPr>
        <p:txBody>
          <a:bodyPr anchor="t" rtlCol="false" tIns="0" lIns="0" bIns="0" rIns="0">
            <a:spAutoFit/>
          </a:bodyPr>
          <a:lstStyle/>
          <a:p>
            <a:pPr algn="just">
              <a:lnSpc>
                <a:spcPts val="2924"/>
              </a:lnSpc>
              <a:spcBef>
                <a:spcPct val="0"/>
              </a:spcBef>
            </a:pPr>
            <a:r>
              <a:rPr lang="en-US" sz="2088">
                <a:solidFill>
                  <a:srgbClr val="FFFFFF"/>
                </a:solidFill>
                <a:latin typeface="Agrandir"/>
                <a:ea typeface="Agrandir"/>
                <a:cs typeface="Agrandir"/>
                <a:sym typeface="Agrandir"/>
              </a:rPr>
              <a:t>Did not worked at all for even paid version so we are more depended on github only now</a:t>
            </a:r>
          </a:p>
        </p:txBody>
      </p:sp>
      <p:sp>
        <p:nvSpPr>
          <p:cNvPr name="Freeform 13" id="13"/>
          <p:cNvSpPr/>
          <p:nvPr/>
        </p:nvSpPr>
        <p:spPr>
          <a:xfrm flipH="true" flipV="false" rot="0">
            <a:off x="10066560" y="4913721"/>
            <a:ext cx="419770" cy="422072"/>
          </a:xfrm>
          <a:custGeom>
            <a:avLst/>
            <a:gdLst/>
            <a:ahLst/>
            <a:cxnLst/>
            <a:rect r="r" b="b" t="t" l="l"/>
            <a:pathLst>
              <a:path h="422072" w="419770">
                <a:moveTo>
                  <a:pt x="419770" y="0"/>
                </a:moveTo>
                <a:lnTo>
                  <a:pt x="0" y="0"/>
                </a:lnTo>
                <a:lnTo>
                  <a:pt x="0" y="422072"/>
                </a:lnTo>
                <a:lnTo>
                  <a:pt x="419770" y="422072"/>
                </a:lnTo>
                <a:lnTo>
                  <a:pt x="4197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823597" y="4858290"/>
            <a:ext cx="4486543" cy="567017"/>
          </a:xfrm>
          <a:prstGeom prst="rect">
            <a:avLst/>
          </a:prstGeom>
        </p:spPr>
        <p:txBody>
          <a:bodyPr anchor="t" rtlCol="false" tIns="0" lIns="0" bIns="0" rIns="0">
            <a:spAutoFit/>
          </a:bodyPr>
          <a:lstStyle/>
          <a:p>
            <a:pPr algn="l">
              <a:lnSpc>
                <a:spcPts val="3919"/>
              </a:lnSpc>
              <a:spcBef>
                <a:spcPct val="0"/>
              </a:spcBef>
            </a:pPr>
            <a:r>
              <a:rPr lang="en-US" sz="2799">
                <a:solidFill>
                  <a:srgbClr val="FFA800"/>
                </a:solidFill>
                <a:latin typeface="Agrandir"/>
                <a:ea typeface="Agrandir"/>
                <a:cs typeface="Agrandir"/>
                <a:sym typeface="Agrandir"/>
              </a:rPr>
              <a:t>GitHub</a:t>
            </a:r>
          </a:p>
        </p:txBody>
      </p:sp>
      <p:sp>
        <p:nvSpPr>
          <p:cNvPr name="TextBox 15" id="15"/>
          <p:cNvSpPr txBox="true"/>
          <p:nvPr/>
        </p:nvSpPr>
        <p:spPr>
          <a:xfrm rot="0">
            <a:off x="10823597" y="5428888"/>
            <a:ext cx="5787736" cy="2223649"/>
          </a:xfrm>
          <a:prstGeom prst="rect">
            <a:avLst/>
          </a:prstGeom>
        </p:spPr>
        <p:txBody>
          <a:bodyPr anchor="t" rtlCol="false" tIns="0" lIns="0" bIns="0" rIns="0">
            <a:spAutoFit/>
          </a:bodyPr>
          <a:lstStyle/>
          <a:p>
            <a:pPr algn="just">
              <a:lnSpc>
                <a:spcPts val="2924"/>
              </a:lnSpc>
            </a:pPr>
            <a:r>
              <a:rPr lang="en-US" sz="2088">
                <a:solidFill>
                  <a:srgbClr val="FFFFFF"/>
                </a:solidFill>
                <a:latin typeface="Agrandir"/>
                <a:ea typeface="Agrandir"/>
                <a:cs typeface="Agrandir"/>
                <a:sym typeface="Agrandir"/>
              </a:rPr>
              <a:t>Git hub worked as we demanded and I have tracked the record and found many loops in that also and gave solutions for that also . </a:t>
            </a:r>
          </a:p>
          <a:p>
            <a:pPr algn="just">
              <a:lnSpc>
                <a:spcPts val="2924"/>
              </a:lnSpc>
              <a:spcBef>
                <a:spcPct val="0"/>
              </a:spcBef>
            </a:pPr>
            <a:r>
              <a:rPr lang="en-US" sz="2088">
                <a:solidFill>
                  <a:srgbClr val="FFFFFF"/>
                </a:solidFill>
                <a:latin typeface="Agrandir"/>
                <a:ea typeface="Agrandir"/>
                <a:cs typeface="Agrandir"/>
                <a:sym typeface="Agrandir"/>
              </a:rPr>
              <a:t>So we have this road as our best option and  gave us the result as we can see in track record </a:t>
            </a:r>
          </a:p>
        </p:txBody>
      </p:sp>
      <p:sp>
        <p:nvSpPr>
          <p:cNvPr name="TextBox 16" id="16"/>
          <p:cNvSpPr txBox="true"/>
          <p:nvPr/>
        </p:nvSpPr>
        <p:spPr>
          <a:xfrm rot="0">
            <a:off x="1254952" y="5280741"/>
            <a:ext cx="8332259" cy="3038982"/>
          </a:xfrm>
          <a:prstGeom prst="rect">
            <a:avLst/>
          </a:prstGeom>
        </p:spPr>
        <p:txBody>
          <a:bodyPr anchor="t" rtlCol="false" tIns="0" lIns="0" bIns="0" rIns="0">
            <a:spAutoFit/>
          </a:bodyPr>
          <a:lstStyle/>
          <a:p>
            <a:pPr algn="just">
              <a:lnSpc>
                <a:spcPts val="2580"/>
              </a:lnSpc>
            </a:pPr>
            <a:r>
              <a:rPr lang="en-US" sz="1843">
                <a:solidFill>
                  <a:srgbClr val="FFFFFF"/>
                </a:solidFill>
                <a:latin typeface="Agrandir"/>
                <a:ea typeface="Agrandir"/>
                <a:cs typeface="Agrandir"/>
                <a:sym typeface="Agrandir"/>
              </a:rPr>
              <a:t>I had class at 08:00 but the mail came at 7:54</a:t>
            </a:r>
          </a:p>
          <a:p>
            <a:pPr algn="just">
              <a:lnSpc>
                <a:spcPts val="2580"/>
              </a:lnSpc>
            </a:pPr>
            <a:r>
              <a:rPr lang="en-US" sz="1843">
                <a:solidFill>
                  <a:srgbClr val="FFFFFF"/>
                </a:solidFill>
                <a:latin typeface="Agrandir"/>
                <a:ea typeface="Agrandir"/>
                <a:cs typeface="Agrandir"/>
                <a:sym typeface="Agrandir"/>
              </a:rPr>
              <a:t>but I can’t reach Nalanda at time </a:t>
            </a:r>
          </a:p>
          <a:p>
            <a:pPr algn="just">
              <a:lnSpc>
                <a:spcPts val="2580"/>
              </a:lnSpc>
            </a:pPr>
            <a:r>
              <a:rPr lang="en-US" sz="1843">
                <a:solidFill>
                  <a:srgbClr val="FFFFFF"/>
                </a:solidFill>
                <a:latin typeface="Agrandir"/>
                <a:ea typeface="Agrandir"/>
                <a:cs typeface="Agrandir"/>
                <a:sym typeface="Agrandir"/>
              </a:rPr>
              <a:t>Because our github delays to send the mail by around 11min sometime gap of 20 min so we can't on time </a:t>
            </a:r>
          </a:p>
          <a:p>
            <a:pPr algn="just">
              <a:lnSpc>
                <a:spcPts val="3046"/>
              </a:lnSpc>
            </a:pPr>
            <a:r>
              <a:rPr lang="en-US" sz="2176" b="true">
                <a:solidFill>
                  <a:srgbClr val="00BF63"/>
                </a:solidFill>
                <a:latin typeface="Agrandir Bold"/>
                <a:ea typeface="Agrandir Bold"/>
                <a:cs typeface="Agrandir Bold"/>
                <a:sym typeface="Agrandir Bold"/>
              </a:rPr>
              <a:t>solution for this issue is  </a:t>
            </a:r>
          </a:p>
          <a:p>
            <a:pPr algn="just">
              <a:lnSpc>
                <a:spcPts val="2580"/>
              </a:lnSpc>
              <a:spcBef>
                <a:spcPct val="0"/>
              </a:spcBef>
            </a:pPr>
            <a:r>
              <a:rPr lang="en-US" sz="1843">
                <a:solidFill>
                  <a:srgbClr val="FFFFFF"/>
                </a:solidFill>
                <a:latin typeface="Agrandir"/>
                <a:ea typeface="Agrandir"/>
                <a:cs typeface="Agrandir"/>
                <a:sym typeface="Agrandir"/>
              </a:rPr>
              <a:t>20-25 min earlier we can send the email as I have recorded 20min was the max gap (as per my analysis). So like if we have class at 8:00 then we will keep all "time" variables = "7:35" (45-35) insted of “7:45” etc then send the email this will be little more safe with this code </a:t>
            </a:r>
          </a:p>
        </p:txBody>
      </p:sp>
      <p:sp>
        <p:nvSpPr>
          <p:cNvPr name="TextBox 17" id="17"/>
          <p:cNvSpPr txBox="true"/>
          <p:nvPr/>
        </p:nvSpPr>
        <p:spPr>
          <a:xfrm rot="0">
            <a:off x="15206681" y="9258381"/>
            <a:ext cx="2744925" cy="694728"/>
          </a:xfrm>
          <a:prstGeom prst="rect">
            <a:avLst/>
          </a:prstGeom>
        </p:spPr>
        <p:txBody>
          <a:bodyPr anchor="t" rtlCol="false" tIns="0" lIns="0" bIns="0" rIns="0">
            <a:spAutoFit/>
          </a:bodyPr>
          <a:lstStyle/>
          <a:p>
            <a:pPr algn="r">
              <a:lnSpc>
                <a:spcPts val="5062"/>
              </a:lnSpc>
              <a:spcBef>
                <a:spcPct val="0"/>
              </a:spcBef>
            </a:pPr>
            <a:r>
              <a:rPr lang="en-US" sz="3616">
                <a:solidFill>
                  <a:srgbClr val="FFFFFF"/>
                </a:solidFill>
                <a:latin typeface="Agrandir"/>
                <a:ea typeface="Agrandir"/>
                <a:cs typeface="Agrandir"/>
                <a:sym typeface="Agrandir"/>
              </a:rPr>
              <a:t>PAGE 17</a:t>
            </a:r>
          </a:p>
        </p:txBody>
      </p:sp>
      <p:sp>
        <p:nvSpPr>
          <p:cNvPr name="Freeform 18" id="18"/>
          <p:cNvSpPr/>
          <p:nvPr/>
        </p:nvSpPr>
        <p:spPr>
          <a:xfrm flipH="false" flipV="false" rot="0">
            <a:off x="1028700"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6"/>
            <a:stretch>
              <a:fillRect l="-10785" t="0" r="-10785"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0">
            <a:off x="-4071977" y="125996"/>
            <a:ext cx="9980271" cy="10035008"/>
          </a:xfrm>
          <a:custGeom>
            <a:avLst/>
            <a:gdLst/>
            <a:ahLst/>
            <a:cxnLst/>
            <a:rect r="r" b="b" t="t" l="l"/>
            <a:pathLst>
              <a:path h="10035008" w="9980271">
                <a:moveTo>
                  <a:pt x="9980271" y="0"/>
                </a:moveTo>
                <a:lnTo>
                  <a:pt x="0" y="0"/>
                </a:lnTo>
                <a:lnTo>
                  <a:pt x="0" y="10035008"/>
                </a:lnTo>
                <a:lnTo>
                  <a:pt x="9980271" y="10035008"/>
                </a:lnTo>
                <a:lnTo>
                  <a:pt x="99802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269164" y="278396"/>
            <a:ext cx="9980271" cy="10035008"/>
          </a:xfrm>
          <a:custGeom>
            <a:avLst/>
            <a:gdLst/>
            <a:ahLst/>
            <a:cxnLst/>
            <a:rect r="r" b="b" t="t" l="l"/>
            <a:pathLst>
              <a:path h="10035008" w="9980271">
                <a:moveTo>
                  <a:pt x="0" y="0"/>
                </a:moveTo>
                <a:lnTo>
                  <a:pt x="9980272" y="0"/>
                </a:lnTo>
                <a:lnTo>
                  <a:pt x="9980272" y="10035008"/>
                </a:lnTo>
                <a:lnTo>
                  <a:pt x="0" y="100350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619236" y="8744166"/>
            <a:ext cx="5049527" cy="514134"/>
          </a:xfrm>
          <a:custGeom>
            <a:avLst/>
            <a:gdLst/>
            <a:ahLst/>
            <a:cxnLst/>
            <a:rect r="r" b="b" t="t" l="l"/>
            <a:pathLst>
              <a:path h="514134" w="5049527">
                <a:moveTo>
                  <a:pt x="0" y="0"/>
                </a:moveTo>
                <a:lnTo>
                  <a:pt x="5049528" y="0"/>
                </a:lnTo>
                <a:lnTo>
                  <a:pt x="5049528" y="514134"/>
                </a:lnTo>
                <a:lnTo>
                  <a:pt x="0" y="514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6138496" y="3048577"/>
            <a:ext cx="6011008" cy="2247323"/>
          </a:xfrm>
          <a:prstGeom prst="rect">
            <a:avLst/>
          </a:prstGeom>
        </p:spPr>
        <p:txBody>
          <a:bodyPr anchor="t" rtlCol="false" tIns="0" lIns="0" bIns="0" rIns="0">
            <a:spAutoFit/>
          </a:bodyPr>
          <a:lstStyle/>
          <a:p>
            <a:pPr algn="ctr">
              <a:lnSpc>
                <a:spcPts val="15781"/>
              </a:lnSpc>
              <a:spcBef>
                <a:spcPct val="0"/>
              </a:spcBef>
            </a:pPr>
            <a:r>
              <a:rPr lang="en-US" sz="11272">
                <a:solidFill>
                  <a:srgbClr val="FFFFFF"/>
                </a:solidFill>
                <a:latin typeface="Agrandir"/>
                <a:ea typeface="Agrandir"/>
                <a:cs typeface="Agrandir"/>
                <a:sym typeface="Agrandir"/>
              </a:rPr>
              <a:t>Thank</a:t>
            </a:r>
          </a:p>
        </p:txBody>
      </p:sp>
      <p:sp>
        <p:nvSpPr>
          <p:cNvPr name="TextBox 7" id="7"/>
          <p:cNvSpPr txBox="true"/>
          <p:nvPr/>
        </p:nvSpPr>
        <p:spPr>
          <a:xfrm rot="0">
            <a:off x="6360554" y="4357549"/>
            <a:ext cx="5566891" cy="2247323"/>
          </a:xfrm>
          <a:prstGeom prst="rect">
            <a:avLst/>
          </a:prstGeom>
        </p:spPr>
        <p:txBody>
          <a:bodyPr anchor="t" rtlCol="false" tIns="0" lIns="0" bIns="0" rIns="0">
            <a:spAutoFit/>
          </a:bodyPr>
          <a:lstStyle/>
          <a:p>
            <a:pPr algn="ctr">
              <a:lnSpc>
                <a:spcPts val="15781"/>
              </a:lnSpc>
              <a:spcBef>
                <a:spcPct val="0"/>
              </a:spcBef>
            </a:pPr>
            <a:r>
              <a:rPr lang="en-US" b="true" sz="11272">
                <a:solidFill>
                  <a:srgbClr val="FFFFFF"/>
                </a:solidFill>
                <a:latin typeface="Agrandir Bold"/>
                <a:ea typeface="Agrandir Bold"/>
                <a:cs typeface="Agrandir Bold"/>
                <a:sym typeface="Agrandir Bold"/>
              </a:rPr>
              <a:t>You.</a:t>
            </a:r>
          </a:p>
        </p:txBody>
      </p:sp>
      <p:sp>
        <p:nvSpPr>
          <p:cNvPr name="TextBox 8" id="8"/>
          <p:cNvSpPr txBox="true"/>
          <p:nvPr/>
        </p:nvSpPr>
        <p:spPr>
          <a:xfrm rot="0">
            <a:off x="7604257" y="8815370"/>
            <a:ext cx="3271390" cy="328542"/>
          </a:xfrm>
          <a:prstGeom prst="rect">
            <a:avLst/>
          </a:prstGeom>
        </p:spPr>
        <p:txBody>
          <a:bodyPr anchor="t" rtlCol="false" tIns="0" lIns="0" bIns="0" rIns="0">
            <a:spAutoFit/>
          </a:bodyPr>
          <a:lstStyle/>
          <a:p>
            <a:pPr algn="ctr">
              <a:lnSpc>
                <a:spcPts val="2364"/>
              </a:lnSpc>
              <a:spcBef>
                <a:spcPct val="0"/>
              </a:spcBef>
            </a:pPr>
            <a:r>
              <a:rPr lang="en-US" b="true" sz="1688">
                <a:solidFill>
                  <a:srgbClr val="000000"/>
                </a:solidFill>
                <a:latin typeface="Agrandir Bold"/>
                <a:ea typeface="Agrandir Bold"/>
                <a:cs typeface="Agrandir Bold"/>
                <a:sym typeface="Agrandir Bold"/>
              </a:rPr>
              <a:t>preetamkhiremani@gmail.com</a:t>
            </a:r>
          </a:p>
        </p:txBody>
      </p:sp>
      <p:sp>
        <p:nvSpPr>
          <p:cNvPr name="TextBox 9" id="9"/>
          <p:cNvSpPr txBox="true"/>
          <p:nvPr/>
        </p:nvSpPr>
        <p:spPr>
          <a:xfrm rot="0">
            <a:off x="6090544" y="6877049"/>
            <a:ext cx="6106913" cy="749509"/>
          </a:xfrm>
          <a:prstGeom prst="rect">
            <a:avLst/>
          </a:prstGeom>
        </p:spPr>
        <p:txBody>
          <a:bodyPr anchor="t" rtlCol="false" tIns="0" lIns="0" bIns="0" rIns="0">
            <a:spAutoFit/>
          </a:bodyPr>
          <a:lstStyle/>
          <a:p>
            <a:pPr algn="ctr">
              <a:lnSpc>
                <a:spcPts val="2784"/>
              </a:lnSpc>
            </a:pPr>
            <a:r>
              <a:rPr lang="en-US" b="true" sz="1988" i="true">
                <a:solidFill>
                  <a:srgbClr val="FFA800"/>
                </a:solidFill>
                <a:latin typeface="Agrandir Bold Italics"/>
                <a:ea typeface="Agrandir Bold Italics"/>
                <a:cs typeface="Agrandir Bold Italics"/>
                <a:sym typeface="Agrandir Bold Italics"/>
              </a:rPr>
              <a:t>BY PREETAM KUMAR HIREMANI</a:t>
            </a:r>
          </a:p>
          <a:p>
            <a:pPr algn="ctr">
              <a:lnSpc>
                <a:spcPts val="2784"/>
              </a:lnSpc>
              <a:spcBef>
                <a:spcPct val="0"/>
              </a:spcBef>
            </a:pPr>
            <a:r>
              <a:rPr lang="en-US" b="true" sz="1988" i="true">
                <a:solidFill>
                  <a:srgbClr val="FFA800"/>
                </a:solidFill>
                <a:latin typeface="Agrandir Bold Italics"/>
                <a:ea typeface="Agrandir Bold Italics"/>
                <a:cs typeface="Agrandir Bold Italics"/>
                <a:sym typeface="Agrandir Bold Italics"/>
              </a:rPr>
              <a:t>26IM10059</a:t>
            </a:r>
          </a:p>
        </p:txBody>
      </p:sp>
      <p:sp>
        <p:nvSpPr>
          <p:cNvPr name="Freeform 10" id="10"/>
          <p:cNvSpPr/>
          <p:nvPr/>
        </p:nvSpPr>
        <p:spPr>
          <a:xfrm flipH="false" flipV="false" rot="0">
            <a:off x="8636801" y="1028700"/>
            <a:ext cx="1206301" cy="1466513"/>
          </a:xfrm>
          <a:custGeom>
            <a:avLst/>
            <a:gdLst/>
            <a:ahLst/>
            <a:cxnLst/>
            <a:rect r="r" b="b" t="t" l="l"/>
            <a:pathLst>
              <a:path h="1466513" w="1206301">
                <a:moveTo>
                  <a:pt x="0" y="0"/>
                </a:moveTo>
                <a:lnTo>
                  <a:pt x="1206301" y="0"/>
                </a:lnTo>
                <a:lnTo>
                  <a:pt x="1206301" y="1466513"/>
                </a:lnTo>
                <a:lnTo>
                  <a:pt x="0" y="1466513"/>
                </a:lnTo>
                <a:lnTo>
                  <a:pt x="0" y="0"/>
                </a:lnTo>
                <a:close/>
              </a:path>
            </a:pathLst>
          </a:custGeom>
          <a:blipFill>
            <a:blip r:embed="rId7"/>
            <a:stretch>
              <a:fillRect l="-10785" t="0" r="-10785"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DAHW-Hh-sgQ</dc:identifier>
  <dcterms:modified xsi:type="dcterms:W3CDTF">2011-08-01T06:04:30Z</dcterms:modified>
  <cp:revision>1</cp:revision>
  <dc:title>CGS Task 3 By PREETAM K H</dc:title>
</cp:coreProperties>
</file>